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5" r:id="rId5"/>
    <p:sldMasterId id="2147483667" r:id="rId6"/>
    <p:sldMasterId id="2147483669" r:id="rId7"/>
    <p:sldMasterId id="2147483671" r:id="rId8"/>
  </p:sldMasterIdLst>
  <p:notesMasterIdLst>
    <p:notesMasterId r:id="rId10"/>
  </p:notesMasterIdLst>
  <p:sldIdLst>
    <p:sldId id="256" r:id="rId9"/>
    <p:sldId id="257" r:id="rId11"/>
    <p:sldId id="258" r:id="rId12"/>
    <p:sldId id="259" r:id="rId13"/>
    <p:sldId id="260" r:id="rId14"/>
    <p:sldId id="261" r:id="rId15"/>
    <p:sldId id="262" r:id="rId16"/>
    <p:sldId id="264" r:id="rId17"/>
    <p:sldId id="265" r:id="rId18"/>
    <p:sldId id="263" r:id="rId19"/>
    <p:sldId id="284" r:id="rId20"/>
    <p:sldId id="267" r:id="rId21"/>
    <p:sldId id="268" r:id="rId22"/>
    <p:sldId id="270" r:id="rId23"/>
    <p:sldId id="271" r:id="rId24"/>
    <p:sldId id="286" r:id="rId25"/>
    <p:sldId id="287" r:id="rId26"/>
    <p:sldId id="272" r:id="rId27"/>
    <p:sldId id="273" r:id="rId28"/>
    <p:sldId id="289" r:id="rId29"/>
    <p:sldId id="275" r:id="rId30"/>
    <p:sldId id="277" r:id="rId31"/>
    <p:sldId id="278" r:id="rId32"/>
    <p:sldId id="281" r:id="rId33"/>
    <p:sldId id="290" r:id="rId34"/>
    <p:sldId id="282" r:id="rId35"/>
    <p:sldId id="291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9" userDrawn="1">
          <p15:clr>
            <a:srgbClr val="747775"/>
          </p15:clr>
        </p15:guide>
        <p15:guide id="2" pos="2888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子麒" initials="李" lastIdx="0" clrIdx="0"/>
  <p:cmAuthor id="2" name="郭 廷廷" initials="郭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9"/>
        <p:guide pos="288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commentAuthors" Target="commentAuthors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飞机通用控制SDK——iking_drone_sdk的技术分享会。今天，我们将深入了解这款强大的工具，它为开发者提供了与无人机进行高效、可靠通信的接口。本次分享将涵盖SDK的核心功能、架构、使用方法以及最佳实践，希望能帮助大家快速上手并应用到实际项目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本次分享将分为七个部分。首先，我们会对SDK进行一个全面的介绍。接着，深入探讨其架构和目录结构。然后，我们会讲解如何安装部署。之后是快速入门环节，通过Hello World和示例程序让大家直观感受。接下来是核心概念和详细的API使用说明。最后，我们会介绍配置、错误码、更多示例以及故障排查方法。</a:t>
            </a:r>
            <a:endParaRPr lang="en-US"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第一部分，通用介绍。iking_drone_sdk是一个C++客户端库，专门为运行在同一台机器或同一个DDS域中的第三方进程设计。它的核心价值在于解耦，让开发者可以专注于业务逻辑，而不用处理复杂的底层通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king_drone_sdk是一个C++客户端库，专门为运行在同一台机器或同一个DDS域中的第三方进程设计。它的核心价值在于解耦，让开发者可以专注于业务逻辑，而不用处理复杂的底层通信。最典型的应用场景就是开发独立的C++业务进程，通过这个SDK来控制无人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DK提供了丰富的功能集。首先是基础的连接管理，包括连接、断开和状态查询。其次，你可以查询系统状态和设备信息。核心功能是飞行与任务控制，涵盖了从起飞到返航，以及复杂的航线任务执行。此外，还支持对挂载的吊舱进行精细控制。所有重要的状态、事件和心跳信息都通过异步回调机制推送。最后，提供了强大的媒体帧获取能力，支持回调和主动拉取两种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接下来看第二部分，SDK概览。这部分将介绍SDK的整体架构、目录结构以及如何重新编译示例程序。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SDK的整体架构图。最上层是用户的应用程序。中间是SDK的核心Client类，提供了所有公开的API。Client内部通过Session层来管理请求和媒体帧。最底层是基于FastDDS的传输层。控制指令的流程是：Client将命令发布到control主题，应用处理后通过control_reply主题返回结果，SDK根据requestId进行匹配。整个调用流程非常清晰：创建配置，初始化Client，连接，然后调用API或处理回调，最后断开连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第三部分是安装与部署。我们将介绍如何使用dpkg命令安装SDK，以及如何设置环境变量和验证安装是否成功。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安装过程非常简单，使用dpkg命令即可。安装完成后，务必记得source环境变量脚本。验证安装时，先确保机载服务已运行，然后运行01_connect示例程序。如果一切正常，程序会成功连接并获取到系统状态。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装完成后，SDK会被部署在/opt/iking/drone_sdk/目录下。这里是它的目录结构。include目录包含了核心头文件iking_drone_sdk.h。lib目录是唯一需要链接的动态库。bin目录下是预编译好的示例程序。env目录下的脚本用于设置环境变量。share/example目录包含了所有示例的源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第三部分是安装与部署。我们将介绍如何使用dpkg命令安装SDK，以及如何设置环境变量和验证安装是否成功。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我们来看一个最简单的Hello World程序。代码非常直观：创建Client对象，连接，获取系统状态，然后断开连接。编译时，只需source环境变量，然后用g++编译，pkg-config会自动处理依赖。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DK自带了一系列非常实用的示例程序。我们先看前五个。01_connect用于验证连接。02_observe_callbacks可以让你看到飞机实时推送的状态、事件和心跳。03和04是菜单式的交互程序，分别用于测试飞行和吊舱的基础功能。05演示了如何通过回调模式获取吊舱的视频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第五部分，我们来探讨一些核心概念，包括Client的生命周期、对象关系、数据流和线程安全。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Client的生命周期非常简单：构造、连接、运行、断开、析构。线程安全方面，connect和disconnect不应与其他指令并发。同一Client实例的控制接口是线程安全的。所有回调都应快速执行。主动拉取帧后必须记得释放。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Client的生命周期非常简单：构造、连接、运行、断开、析构。线程安全方面，connect和disconnect不应与其他指令并发。同一Client实例的控制接口是线程安全的。所有回调都应快速执行。主动拉取帧后必须记得释放。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Client的生命周期非常简单：构造、连接、运行、断开、析构。线程安全方面，connect和disconnect不应与其他指令并发。同一Client实例的控制接口是线程安全的。所有回调都应快速执行。主动拉取帧后必须记得释放。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第六部分，我们将详细介绍API的使用，包括基础类型、连接、系统设备、飞行任务、吊舱控制、回调和取帧等。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连接管理的API非常直观。系统与设备查询API则提供了获取系统状态、设备列表、单个设备信息以及吊舱能力的方法。其中，getPodCapability非常重要，它会返回吊舱支持的视频流通道和共享内存信息。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连接管理的API非常直观。系统与设备查询API则提供了获取系统状态、设备列表、单个设备信息以及吊舱能力的方法。其中，getPodCapability非常重要，它会返回吊舱支持的视频流通道和共享内存信息。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对于吊舱控制，SDK提供了通用的podCtrl方法和封装好的功能方法。这些方法涵盖了云台、夹手、相机和红外相机的各种控制功能。特别地，拍照和停止录像的API支持直接指定本地路径下载文件。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回调机制用于接收飞机主动推送的信息。主要有状态、事件、心跳和视频帧四种类型。注册回调非常简单。通过监听flight_event等事件，我们可以实现对无人机状态的全面监控。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取帧功能支持推模式和拉模式。首先需要调用openFramePool打开帧池。推模式通过回调自动获取新帧，拉模式则主动获取并需要手动释放。对于同一个通道，两种模式互斥。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最后，我们来汇总一下示例程序，并介绍一些常见故障的排查方法。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取帧功能支持推模式和拉模式。首先需要调用openFramePool打开帧池。推模式通过回调自动获取新帧，拉模式则主动获取并需要手动释放。对于同一个通道，两种模式互斥。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出了一些常见的问题及其可能的原因和解决方案。比如无法connect，通常是app没启动或者domain不一致。如果遇到进程崩溃，建议在退出前显式调用disconnect和close。如果编译或运行时提示找不到库，记得检查是否正确source了环境变量脚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3.svg"/><Relationship Id="rId13" Type="http://schemas.openxmlformats.org/officeDocument/2006/relationships/image" Target="../media/image22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sv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17.xml"/><Relationship Id="rId10" Type="http://schemas.openxmlformats.org/officeDocument/2006/relationships/image" Target="../media/image31.sv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svg"/><Relationship Id="rId8" Type="http://schemas.openxmlformats.org/officeDocument/2006/relationships/image" Target="../media/image37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2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0.svg"/><Relationship Id="rId10" Type="http://schemas.openxmlformats.org/officeDocument/2006/relationships/image" Target="../media/image39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5.png"/><Relationship Id="rId12" Type="http://schemas.openxmlformats.org/officeDocument/2006/relationships/notesSlide" Target="../notesSlides/notesSlide2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8.sv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13940" y="1536700"/>
            <a:ext cx="7581900" cy="116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43500" y="431800"/>
            <a:ext cx="18542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275840" y="1993900"/>
            <a:ext cx="7645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飞机通用控制 SDK 说明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336800" y="2237740"/>
            <a:ext cx="75819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17500" y="533400"/>
            <a:ext cx="25908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362200" y="2514600"/>
            <a:ext cx="444500" cy="444500"/>
          </a:xfrm>
          <a:prstGeom prst="ellipse">
            <a:avLst/>
          </a:prstGeom>
          <a:solidFill>
            <a:srgbClr val="0223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476500" y="2527300"/>
            <a:ext cx="228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08300" y="2463800"/>
            <a:ext cx="2895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通用介绍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362200" y="3352800"/>
            <a:ext cx="444500" cy="444500"/>
          </a:xfrm>
          <a:prstGeom prst="ellipse">
            <a:avLst/>
          </a:prstGeom>
          <a:solidFill>
            <a:srgbClr val="0223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476500" y="3365500"/>
            <a:ext cx="228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08300" y="3302000"/>
            <a:ext cx="2895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SDK概览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362200" y="4305300"/>
            <a:ext cx="444500" cy="444500"/>
          </a:xfrm>
          <a:prstGeom prst="ellipse">
            <a:avLst/>
          </a:prstGeom>
          <a:solidFill>
            <a:srgbClr val="0223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476500" y="4318000"/>
            <a:ext cx="228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08300" y="4254500"/>
            <a:ext cx="2895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安装与部署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2108200"/>
            <a:ext cx="444500" cy="444500"/>
          </a:xfrm>
          <a:prstGeom prst="ellipse">
            <a:avLst/>
          </a:prstGeom>
          <a:solidFill>
            <a:srgbClr val="0223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27800" y="2120900"/>
            <a:ext cx="228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72300" y="2057400"/>
            <a:ext cx="2895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快速开始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2946400"/>
            <a:ext cx="444500" cy="444500"/>
          </a:xfrm>
          <a:prstGeom prst="ellipse">
            <a:avLst/>
          </a:prstGeom>
          <a:solidFill>
            <a:srgbClr val="0223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27800" y="2959100"/>
            <a:ext cx="228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72300" y="2895600"/>
            <a:ext cx="2895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核心概念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3898900"/>
            <a:ext cx="444500" cy="444500"/>
          </a:xfrm>
          <a:prstGeom prst="ellipse">
            <a:avLst/>
          </a:prstGeom>
          <a:solidFill>
            <a:srgbClr val="0223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27800" y="3911600"/>
            <a:ext cx="228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72300" y="3848100"/>
            <a:ext cx="2895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API使用说明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23660" y="4772660"/>
            <a:ext cx="444500" cy="444500"/>
          </a:xfrm>
          <a:prstGeom prst="ellipse">
            <a:avLst/>
          </a:prstGeom>
          <a:solidFill>
            <a:srgbClr val="0223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37960" y="4785360"/>
            <a:ext cx="228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7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75475" y="472186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错误码与示例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6800" y="1955800"/>
            <a:ext cx="7581900" cy="116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298700" y="2425700"/>
            <a:ext cx="7645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通用介绍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SDK简介与适用场景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867910" y="1857375"/>
            <a:ext cx="685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02238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</a:t>
            </a:r>
            <a:endParaRPr lang="en-US" sz="1800" b="1" i="0" u="none" strike="noStrike">
              <a:solidFill>
                <a:srgbClr val="02238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457200" algn="just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ikingDroneSDK 是面向</a:t>
            </a:r>
            <a:r>
              <a: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同机（或同 DDS Domain）第三方进程</a:t>
            </a:r>
            <a:r>
              <a:rPr 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打造的高性能 C++ 控制客户端库。它专为无人机实时控制场景优化，提供轻量级、低延迟的接口封装，屏蔽了底层通信的复杂性，让开发者无需深入硬件协议即可实现对无人机的精准控制。</a:t>
            </a:r>
            <a:endParaRPr lang="en-US" sz="1600" b="0" i="0" u="none" strike="noStrike">
              <a:solidFill>
                <a:srgbClr val="02238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000"/>
              </a:lnSpc>
              <a:defRPr/>
            </a:pPr>
            <a:br>
              <a:rPr lang="en-US" sz="1100" b="1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Noto Sans SC"/>
              </a:rPr>
            </a:br>
            <a:br>
              <a:rPr lang="en-US" sz="1100" b="1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Noto Sans SC"/>
              </a:rPr>
            </a:br>
            <a:endParaRPr lang="en-US" sz="1100"/>
          </a:p>
          <a:p>
            <a:pPr marL="0" indent="0" algn="l">
              <a:lnSpc>
                <a:spcPct val="133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4191000"/>
            <a:ext cx="1117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01600" rIns="88900" bIns="1016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800" b="1" i="0" u="none" strike="noStrike">
              <a:solidFill>
                <a:srgbClr val="C6A86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45720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适用于各类第三方 C++ 业务进程开发，</a:t>
            </a:r>
            <a:r>
              <a:rPr 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Noto Sans SC"/>
              </a:rPr>
              <a:t>它以“解耦设计”为核心，将底层通信、硬件适配与上层业务逻辑分离，让开发者无需关注复杂的通信协议与设备驱动细节</a:t>
            </a:r>
            <a:r>
              <a:rPr lang="en-US" sz="1200" b="1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Noto Sans SC"/>
              </a:rPr>
              <a:t>，</a:t>
            </a: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实现业务逻辑与底层飞控的彻底解耦，为无人机生态提供统一的内部控制接口标准。开发者可摆脱跨进程通信、协议解析的繁琐工作，</a:t>
            </a:r>
            <a:r>
              <a:rPr 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Noto Sans SC"/>
              </a:rPr>
              <a:t>能够聚焦于无人机控制、任务规划、数据解析等核心业务功能的实现，大幅简化开发流程并提升系统扩展性</a:t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Noto Sans SC"/>
              </a:rPr>
              <a:t>，</a:t>
            </a: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大幅降低开发门槛与维护成本，同时保证控制指令的高可靠性与实时性，是构建灵活、可扩展无人机应用的核心基础组件。</a:t>
            </a:r>
            <a:endParaRPr lang="en-US"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图片 8" descr="videoframe_13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" y="1808480"/>
            <a:ext cx="3935730" cy="2214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无人机SDK核心功能概览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937125" y="1858645"/>
            <a:ext cx="6746875" cy="4221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基础</a:t>
            </a:r>
            <a:r>
              <a:rPr lang="zh-CN" alt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飞行控制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400" b="0" i="0" u="none" strike="noStrike">
              <a:solidFill>
                <a:srgbClr val="33333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支持完整飞行控制，一键起飞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降落，</a:t>
            </a:r>
            <a:r>
              <a:rPr lang="zh-CN" altLang="en-US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无人机持续飞行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速度控制，无人机位置控制，任务模式等。</a:t>
            </a:r>
            <a:endParaRPr lang="zh-CN" altLang="en-US" sz="1400" b="0" i="0" u="none" strike="noStrike">
              <a:solidFill>
                <a:srgbClr val="33333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25000"/>
              </a:lnSpc>
              <a:defRPr/>
            </a:pPr>
            <a:endParaRPr lang="zh-CN" altLang="en-US" sz="1400" b="0" i="0" u="none" strike="noStrike">
              <a:solidFill>
                <a:srgbClr val="33333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多元化</a:t>
            </a: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吊舱</a:t>
            </a:r>
            <a:r>
              <a:rPr lang="zh-CN" alt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载荷</a:t>
            </a: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控制：</a:t>
            </a:r>
            <a:endParaRPr lang="en-US" sz="1400" b="0" i="0" u="none" strike="noStrike">
              <a:solidFill>
                <a:srgbClr val="33333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25000"/>
              </a:lnSpc>
            </a:pPr>
            <a:r>
              <a:rPr lang="zh-CN" alt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适配多元化吊舱载荷，支持吊舱云台速度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角度控制、拍照、录像、红外吊舱色板、红外吊舱测温点控制、吊舱夹手控制等。</a:t>
            </a:r>
            <a:endParaRPr lang="en-US" sz="1400" b="0" i="0" u="none" strike="noStrike">
              <a:solidFill>
                <a:srgbClr val="33333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25000"/>
              </a:lnSpc>
            </a:pPr>
            <a:endParaRPr lang="en-US" sz="1400" b="0" i="0" u="none" strike="noStrike">
              <a:solidFill>
                <a:srgbClr val="33333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流媒体处理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400" b="0" i="0" u="none" strike="noStrike">
              <a:solidFill>
                <a:srgbClr val="33333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25000"/>
              </a:lnSpc>
            </a:pPr>
            <a:r>
              <a:rPr lang="zh-CN" alt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支持吊舱流媒体帧、无人机前向相机流媒体、无人机四路鱼眼全向感知深度数据，同步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异步处理。</a:t>
            </a:r>
            <a:endParaRPr lang="zh-CN" altLang="en-US" sz="1400" b="0" i="0" u="none" strike="noStrike">
              <a:solidFill>
                <a:srgbClr val="333333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530225" y="2040255"/>
            <a:ext cx="4180205" cy="2777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6800" y="1955800"/>
            <a:ext cx="7581900" cy="116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298700" y="2425700"/>
            <a:ext cx="7645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SDK概览</a:t>
            </a:r>
            <a:endParaRPr lang="en-US" sz="1600" b="0" i="0" u="none" strike="noStrike">
              <a:solidFill>
                <a:srgbClr val="FFFFFF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SDK 技术架构</a:t>
            </a: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概览</a:t>
            </a:r>
            <a:endParaRPr lang="zh-CN" altLang="en-US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4889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架构图直观展示了从底层传输到上层应用的完整技术栈，各层级职责清晰，通过标准化接口实现高效协作与解耦，保障系统的稳定性与可维护性。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778000"/>
            <a:ext cx="7366000" cy="1206500"/>
          </a:xfrm>
          <a:prstGeom prst="roundRect">
            <a:avLst>
              <a:gd name="adj" fmla="val 0"/>
            </a:avLst>
          </a:prstGeom>
          <a:solidFill>
            <a:srgbClr val="F2F5F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08500" y="1879600"/>
            <a:ext cx="711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01 </a:t>
            </a:r>
            <a:r>
              <a:rPr lang="zh-CN" altLang="en-US" sz="16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三</a:t>
            </a:r>
            <a:r>
              <a:rPr lang="en-US" sz="16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层解耦架构设计</a:t>
            </a:r>
            <a:endParaRPr lang="en-US" sz="1100"/>
          </a:p>
          <a:p>
            <a:pPr marL="0" indent="45720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73D"/>
                </a:solidFill>
                <a:latin typeface="Noto Sans SC"/>
                <a:ea typeface="Noto Sans SC"/>
                <a:cs typeface="Noto Sans SC"/>
                <a:sym typeface="Noto Sans SC"/>
              </a:rPr>
              <a:t>自上而下分为SDK 核心层（iking::drone::Client）、会话管理层（Session）及传输层（DdsTransport）。层级间通过抽象接口交互，实现业务逻辑与通信细节的彻底解耦，便于独立迭代与扩展。</a:t>
            </a:r>
            <a:endParaRPr lang="en-US" sz="1400" b="0" i="0" u="none" strike="noStrike">
              <a:solidFill>
                <a:srgbClr val="33373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3175000"/>
            <a:ext cx="7366000" cy="1206500"/>
          </a:xfrm>
          <a:prstGeom prst="roundRect">
            <a:avLst>
              <a:gd name="adj" fmla="val 0"/>
            </a:avLst>
          </a:prstGeom>
          <a:solidFill>
            <a:srgbClr val="F2F5F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08500" y="3276600"/>
            <a:ext cx="711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02 高可靠指令交互机制</a:t>
            </a:r>
            <a:endParaRPr lang="en-US" sz="1100"/>
          </a:p>
          <a:p>
            <a:pPr marL="0" indent="45720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73D"/>
                </a:solidFill>
                <a:latin typeface="Noto Sans SC"/>
                <a:ea typeface="Noto Sans SC"/>
                <a:cs typeface="Noto Sans SC"/>
                <a:sym typeface="Noto Sans SC"/>
              </a:rPr>
              <a:t>Client 封装指令并发布至 Control Topic，应用侧异步处理后通过 Control_reply 反馈结果；SDK 内置 RequestId 匹配机制，精准关联请求与响应，确保指令的可靠性与事务一致性，支持复杂场景下的稳定控制。</a:t>
            </a:r>
            <a:endParaRPr lang="en-US" sz="1400" b="0" i="0" u="none" strike="noStrike">
              <a:solidFill>
                <a:srgbClr val="33373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318000" y="4572000"/>
            <a:ext cx="7366000" cy="1206500"/>
          </a:xfrm>
          <a:prstGeom prst="roundRect">
            <a:avLst>
              <a:gd name="adj" fmla="val 0"/>
            </a:avLst>
          </a:prstGeom>
          <a:solidFill>
            <a:srgbClr val="F2F5F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08500" y="4673600"/>
            <a:ext cx="711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03 标准化开发调用范式</a:t>
            </a:r>
            <a:endParaRPr lang="en-US" sz="1100"/>
          </a:p>
          <a:p>
            <a:pPr marL="0" indent="45720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73D"/>
                </a:solidFill>
                <a:latin typeface="Noto Sans SC"/>
                <a:ea typeface="Noto Sans SC"/>
                <a:cs typeface="Noto Sans SC"/>
                <a:sym typeface="Noto Sans SC"/>
              </a:rPr>
              <a:t>遵循极简且标准的开发流程：配置初始化(Config) → 实例化 Client → 建立连接(connect) → 业务交互(API调用/事件回调) → 资源释放(disconnect)。统一的接口规范降低了集成门槛，提升了开发效率与代码可维护性。</a:t>
            </a:r>
            <a:endParaRPr lang="en-US" sz="1400" b="0" i="0" u="none" strike="noStrike">
              <a:solidFill>
                <a:srgbClr val="33373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5" name="图片 14" descr="______________________________________________________________________绘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65" y="2016760"/>
            <a:ext cx="2507615" cy="2494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6800" y="1955800"/>
            <a:ext cx="7581900" cy="116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298700" y="2425700"/>
            <a:ext cx="7645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安装与部署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安装与验证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826000" y="1714500"/>
            <a:ext cx="6858000" cy="2286000"/>
          </a:xfrm>
          <a:prstGeom prst="roundRect">
            <a:avLst>
              <a:gd name="adj" fmla="val 0"/>
            </a:avLst>
          </a:prstGeom>
          <a:solidFill>
            <a:srgbClr val="02238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953000" y="1841500"/>
            <a:ext cx="660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01. SDK 环境部署 (dpkg 方式)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执行以下命令完成安装并加载环境变量，确保依赖库与头文件路径正确配置：</a:t>
            </a:r>
            <a:endParaRPr lang="en-US" sz="14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sudo dpkg -i DRONE_SDK_V1.2.3.4.orin.deb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source /opt/iking/drone_sdk/env/iking_drone_sdk.sh</a:t>
            </a:r>
            <a:endParaRPr lang="en-US" sz="1400" b="1" i="0" u="none" strike="noStrike">
              <a:solidFill>
                <a:srgbClr val="C6A86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endParaRPr lang="en-US" sz="1400" b="1" i="0" u="none" strike="noStrike">
              <a:solidFill>
                <a:srgbClr val="C6A86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endParaRPr lang="en-US" sz="1400" b="1" i="0" u="none" strike="noStrike">
              <a:solidFill>
                <a:srgbClr val="C6A86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*</a:t>
            </a:r>
            <a:r>
              <a:rPr lang="zh-CN" altLang="en-US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默认无人机中</a:t>
            </a:r>
            <a:r>
              <a:rPr lang="en-US" altLang="zh-CN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SDK</a:t>
            </a:r>
            <a:r>
              <a:rPr lang="zh-CN" altLang="en-US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已安装，无需重复安装</a:t>
            </a:r>
            <a:r>
              <a:rPr lang="en-US" altLang="zh-CN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SDK</a:t>
            </a:r>
            <a:r>
              <a:rPr lang="zh-CN" altLang="en-US" b="1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包</a:t>
            </a:r>
            <a:endParaRPr lang="en-US" sz="1400" b="1" i="0" u="none" strike="noStrike">
              <a:solidFill>
                <a:srgbClr val="C6A86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4191000"/>
            <a:ext cx="5524500" cy="1778000"/>
          </a:xfrm>
          <a:prstGeom prst="roundRect">
            <a:avLst>
              <a:gd name="adj" fmla="val 0"/>
            </a:avLst>
          </a:prstGeom>
          <a:solidFill>
            <a:srgbClr val="C6A86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" y="4318000"/>
            <a:ext cx="5270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63500" rIns="1016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02. 运行连接测试程序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在终端依次执行指令，验证硬件连接与服务状态：</a:t>
            </a:r>
            <a:endParaRPr lang="en-US" sz="14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022382"/>
                </a:solidFill>
                <a:latin typeface="Noto Sans SC"/>
                <a:ea typeface="Noto Sans SC"/>
                <a:cs typeface="Noto Sans SC"/>
                <a:sym typeface="Noto Sans SC"/>
              </a:rPr>
              <a:t>/opt/iking/drone_sdk/bin/01_connect</a:t>
            </a:r>
            <a:endParaRPr lang="en-US" sz="1400" b="1" i="0" u="none" strike="noStrike">
              <a:solidFill>
                <a:srgbClr val="02238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159500" y="4191000"/>
            <a:ext cx="5524500" cy="1778000"/>
          </a:xfrm>
          <a:prstGeom prst="roundRect">
            <a:avLst>
              <a:gd name="adj" fmla="val 0"/>
            </a:avLst>
          </a:prstGeom>
          <a:solidFill>
            <a:srgbClr val="C6A86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86500" y="4318000"/>
            <a:ext cx="5270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63500" rIns="1016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预期执行反馈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程序启动后，若软硬件及网络正常，终端将输出：</a:t>
            </a:r>
            <a:endParaRPr lang="en-US" sz="14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连接成功 (connect() Ok)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Status: Code::Ok (系统状态正常)</a:t>
            </a:r>
            <a:endParaRPr lang="en-US" sz="1400" b="1" i="0" u="none" strike="noStrike">
              <a:solidFill>
                <a:srgbClr val="10B98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513840"/>
            <a:ext cx="3216910" cy="2458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云圣智能 · 无人机 SDK 开发指南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SDK 目录结构与部署概览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601210" y="1875155"/>
            <a:ext cx="7104380" cy="200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zh-CN" alt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安装目录：</a:t>
            </a:r>
            <a:endParaRPr lang="en-US" altLang="zh-CN" sz="1600" b="0" i="0" u="none" strike="noStrike">
              <a:solidFill>
                <a:schemeClr val="tx1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zh-CN" altLang="en-US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在无人机系统内部使用</a:t>
            </a:r>
            <a:r>
              <a:rPr lang="en-US" altLang="zh-CN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dpkg -i</a:t>
            </a:r>
            <a:r>
              <a:rPr lang="en-US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安装,完成后SDK 核心组件将被自动部署至</a:t>
            </a:r>
            <a:r>
              <a:rPr lang="en-US" sz="160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/opt/iking/drone_sdk/</a:t>
            </a:r>
            <a:r>
              <a:rPr lang="en-US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标准路径下。</a:t>
            </a:r>
            <a:endParaRPr lang="en-US" sz="1600" b="0" i="0" u="none" strike="noStrike">
              <a:solidFill>
                <a:schemeClr val="tx1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33000"/>
              </a:lnSpc>
              <a:defRPr/>
            </a:pPr>
            <a:endParaRPr lang="en-US" sz="1600" b="0" i="0" u="none" strike="noStrike">
              <a:solidFill>
                <a:schemeClr val="tx1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33000"/>
              </a:lnSpc>
              <a:defRPr/>
            </a:pPr>
            <a:endParaRPr lang="zh-CN" altLang="en-US" sz="1200" b="1" i="0" u="none" strike="noStrike">
              <a:solidFill>
                <a:schemeClr val="tx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17500" y="4318000"/>
            <a:ext cx="2794000" cy="1206500"/>
          </a:xfrm>
          <a:prstGeom prst="roundRect">
            <a:avLst>
              <a:gd name="adj" fmla="val 0"/>
            </a:avLst>
          </a:prstGeom>
          <a:solidFill>
            <a:srgbClr val="02238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" y="4381500"/>
            <a:ext cx="266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01 /include/ 核心头文件</a:t>
            </a:r>
            <a:endParaRPr lang="en-US" sz="1100"/>
          </a:p>
          <a:p>
            <a:pPr marL="0" indent="45720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存放 iking_drone_sdk.h 等关键接口定义，是应用开发的基础依赖，定义了所有交互规范。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276600" y="4318000"/>
            <a:ext cx="2794000" cy="1206500"/>
          </a:xfrm>
          <a:prstGeom prst="roundRect">
            <a:avLst>
              <a:gd name="adj" fmla="val 0"/>
            </a:avLst>
          </a:prstGeom>
          <a:solidFill>
            <a:srgbClr val="02238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340100" y="4381500"/>
            <a:ext cx="266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02 /lib/ 动态链接库</a:t>
            </a:r>
            <a:endParaRPr lang="en-US" sz="1100"/>
          </a:p>
          <a:p>
            <a:pPr marL="0" indent="45720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包含唯一需链接的 .so 动态库，封装了无人机控制的</a:t>
            </a:r>
            <a:r>
              <a:rPr lang="zh-CN" altLang="en-US" sz="1300" b="0" i="0" u="none" strike="noStrike">
                <a:solidFill>
                  <a:srgbClr val="3C3C3C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协议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通信协议</a:t>
            </a:r>
            <a:r>
              <a:rPr lang="zh-CN" altLang="en-US" sz="1300" b="0" i="0" u="none" strike="noStrike">
                <a:solidFill>
                  <a:srgbClr val="3C3C3C"/>
                </a:solidFill>
                <a:latin typeface="Noto Sans SC"/>
                <a:ea typeface="宋体" charset="0"/>
                <a:cs typeface="Noto Sans SC"/>
                <a:sym typeface="Noto Sans SC"/>
              </a:rPr>
              <a:t>，媒体数据交互等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35700" y="4318000"/>
            <a:ext cx="2794000" cy="1206500"/>
          </a:xfrm>
          <a:prstGeom prst="roundRect">
            <a:avLst>
              <a:gd name="adj" fmla="val 0"/>
            </a:avLst>
          </a:prstGeom>
          <a:solidFill>
            <a:srgbClr val="02238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99200" y="4381500"/>
            <a:ext cx="266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03 /bin/ 预编译示例</a:t>
            </a:r>
            <a:endParaRPr lang="en-US" sz="1100"/>
          </a:p>
          <a:p>
            <a:pPr marL="0" indent="45720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提供可直接运行的示例程序，无需编译即可快速验证环境配置、硬件连接与基础功能。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194800" y="4318000"/>
            <a:ext cx="2794000" cy="1206500"/>
          </a:xfrm>
          <a:prstGeom prst="roundRect">
            <a:avLst>
              <a:gd name="adj" fmla="val 0"/>
            </a:avLst>
          </a:prstGeom>
          <a:solidFill>
            <a:srgbClr val="02238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258300" y="4381500"/>
            <a:ext cx="266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04 /share/ 资源与源码</a:t>
            </a:r>
            <a:endParaRPr lang="en-US" sz="1100"/>
          </a:p>
          <a:p>
            <a:pPr marL="0" indent="45720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涵盖开发文档、配置模板及完整的示例源代码，助力开发者快速上手与深度定制开发。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55" y="1495425"/>
            <a:ext cx="3258185" cy="25596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6800" y="1955800"/>
            <a:ext cx="7581900" cy="116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298700" y="2425700"/>
            <a:ext cx="7645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快速开始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SDK 快速入门示例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191000" y="1670050"/>
            <a:ext cx="7493000" cy="4248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极简交互，快速上手</a:t>
            </a:r>
            <a:endParaRPr lang="en-US" sz="1100"/>
          </a:p>
          <a:p>
            <a:pPr marL="0" indent="457200" algn="l">
              <a:lnSpc>
                <a:spcPct val="117000"/>
              </a:lnSpc>
            </a:pPr>
            <a:r>
              <a:rPr lang="zh-CN" alt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通过极简</a:t>
            </a: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核心代码即可完成无人机的基础通信：创建客户端实例、建立网络连接、获取设备状态。该示例展示了 SDK 简洁的接口设计，屏蔽了底层通信细节，让开发者能够专注于业务逻辑的实现，轻松</a:t>
            </a:r>
            <a:r>
              <a:rPr lang="zh-CN" alt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上手</a:t>
            </a: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无人机应用开发。</a:t>
            </a:r>
            <a:endParaRPr lang="en-US" sz="14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b="1">
              <a:solidFill>
                <a:srgbClr val="C6A86E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b="1">
              <a:solidFill>
                <a:srgbClr val="C6A86E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b="1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01 / 核心代码逻辑 (C++)</a:t>
            </a:r>
            <a:endParaRPr lang="en-US"/>
          </a:p>
          <a:p>
            <a:pPr marL="0" indent="457200" algn="l">
              <a:lnSpc>
                <a:spcPct val="108000"/>
              </a:lnSpc>
            </a:pPr>
            <a:r>
              <a:rPr lang="en-US" b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连接设备与状态查询：</a:t>
            </a:r>
            <a:r>
              <a:rPr lang="en-US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初始化 Client 对象，调用 connect() 建立连接，通过getSystemStatus() 获取实时状态，最后安全断开连接。</a:t>
            </a:r>
            <a:endParaRPr lang="en-US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08000"/>
              </a:lnSpc>
            </a:pPr>
            <a:endParaRPr lang="en-US" sz="14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b="1">
                <a:solidFill>
                  <a:srgbClr val="C6A86E"/>
                </a:solidFill>
                <a:latin typeface="微软雅黑"/>
                <a:ea typeface="微软雅黑"/>
                <a:cs typeface="微软雅黑"/>
                <a:sym typeface="微软雅黑"/>
              </a:rPr>
              <a:t>02 / 编译与运行指令</a:t>
            </a:r>
            <a:endParaRPr lang="en-US"/>
          </a:p>
          <a:p>
            <a:pPr marL="0" indent="457200" algn="l">
              <a:lnSpc>
                <a:spcPct val="108000"/>
              </a:lnSpc>
            </a:pPr>
            <a:r>
              <a:rPr lang="en-US" b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一键编译命令：</a:t>
            </a:r>
            <a:r>
              <a:rPr lang="en-US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 g++ 配合 pkg-config 自动解析依赖，无需手动配置链接库路径。执行 </a:t>
            </a:r>
            <a:r>
              <a:rPr lang="en-US" altLang="zh-CN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source /opt/iking/drone_sdk/env/iking_drone_sdk.sh &amp;&amp;</a:t>
            </a:r>
            <a:r>
              <a:rPr lang="en-US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 g++ -std=c++14  </a:t>
            </a:r>
            <a:r>
              <a:rPr lang="en-US" altLang="zh-CN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/opt/iking/drone_sdk/share/example/01_connect</a:t>
            </a:r>
            <a:r>
              <a:rPr lang="en-US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.cpp -o 01_connect $(pkg-config --cflags --libs iking_drone_sdk) 即可生成可执行文件，运行后即刻获取设备反馈。</a:t>
            </a:r>
            <a:endParaRPr lang="en-US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08000"/>
              </a:lnSpc>
            </a:pPr>
            <a:endParaRPr lang="zh-CN" altLang="en-US" b="0" i="0" u="none" strike="noStrike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08000"/>
              </a:lnSpc>
            </a:pPr>
            <a:r>
              <a:rPr lang="en-US" altLang="zh-CN" sz="1200" b="1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*</a:t>
            </a:r>
            <a:r>
              <a:rPr lang="zh-CN" altLang="en-US" sz="1200" b="1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可以直接使用</a:t>
            </a:r>
            <a:r>
              <a:rPr lang="en-US" altLang="zh-CN" sz="1200" b="1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example</a:t>
            </a:r>
            <a:r>
              <a:rPr lang="zh-CN" altLang="en-US" sz="1200" b="1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目录下的</a:t>
            </a:r>
            <a:r>
              <a:rPr lang="en-US" altLang="zh-CN" sz="1200" b="1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cmakelist</a:t>
            </a:r>
            <a:r>
              <a:rPr lang="zh-CN" altLang="en-US" sz="1200" b="1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直接编译。</a:t>
            </a:r>
            <a:endParaRPr lang="en-US" b="0" i="0" u="none" strike="noStrike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08000"/>
              </a:lnSpc>
            </a:pPr>
            <a:endParaRPr lang="en-US" sz="14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50715" y="4610100"/>
            <a:ext cx="558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300" b="0" i="0" u="none" strike="noStrike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" y="1524635"/>
            <a:ext cx="3443605" cy="45332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自带示例程序清单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4"/>
          <p:cNvSpPr/>
          <p:nvPr/>
        </p:nvSpPr>
        <p:spPr>
          <a:xfrm>
            <a:off x="708025" y="164211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5"/>
          <p:cNvSpPr/>
          <p:nvPr/>
        </p:nvSpPr>
        <p:spPr>
          <a:xfrm>
            <a:off x="708025" y="164211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id="11" name="AutoShape 6"/>
          <p:cNvSpPr/>
          <p:nvPr/>
        </p:nvSpPr>
        <p:spPr>
          <a:xfrm>
            <a:off x="1322070" y="1590675"/>
            <a:ext cx="4318000" cy="610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connect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功能：连接飞机，查询状态 | 用途：验证连通性</a:t>
            </a:r>
            <a:endParaRPr lang="en-US" sz="12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698500" y="262382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8"/>
          <p:cNvSpPr/>
          <p:nvPr/>
        </p:nvSpPr>
        <p:spPr>
          <a:xfrm>
            <a:off x="698500" y="262382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id="14" name="AutoShape 9"/>
          <p:cNvSpPr/>
          <p:nvPr/>
        </p:nvSpPr>
        <p:spPr>
          <a:xfrm>
            <a:off x="1273175" y="2413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observe_callbacks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功能：监听状态、事件、心跳 | 用途：查看数据推送</a:t>
            </a:r>
            <a:endParaRPr lang="en-US" sz="12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5" name="AutoShape 10"/>
          <p:cNvSpPr/>
          <p:nvPr/>
        </p:nvSpPr>
        <p:spPr>
          <a:xfrm>
            <a:off x="698500" y="361950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1"/>
          <p:cNvSpPr/>
          <p:nvPr/>
        </p:nvSpPr>
        <p:spPr>
          <a:xfrm>
            <a:off x="698500" y="3619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id="17" name="AutoShape 12"/>
          <p:cNvSpPr/>
          <p:nvPr/>
        </p:nvSpPr>
        <p:spPr>
          <a:xfrm>
            <a:off x="1273175" y="341884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flight_basic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功能：菜单式飞行控制 | 用途：测试基础飞行</a:t>
            </a:r>
            <a:endParaRPr lang="en-US" sz="12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8" name="AutoShape 13"/>
          <p:cNvSpPr/>
          <p:nvPr/>
        </p:nvSpPr>
        <p:spPr>
          <a:xfrm>
            <a:off x="698500" y="464058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4"/>
          <p:cNvSpPr/>
          <p:nvPr/>
        </p:nvSpPr>
        <p:spPr>
          <a:xfrm>
            <a:off x="698500" y="464058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endParaRPr lang="en-US" sz="1100"/>
          </a:p>
        </p:txBody>
      </p:sp>
      <p:sp>
        <p:nvSpPr>
          <p:cNvPr id="20" name="AutoShape 15"/>
          <p:cNvSpPr/>
          <p:nvPr/>
        </p:nvSpPr>
        <p:spPr>
          <a:xfrm>
            <a:off x="1273175" y="444754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pod_basic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功能：菜单式吊舱控制 | 用途：测试基础吊舱</a:t>
            </a:r>
            <a:endParaRPr lang="en-US" sz="12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21" name="AutoShape 16"/>
          <p:cNvSpPr/>
          <p:nvPr/>
        </p:nvSpPr>
        <p:spPr>
          <a:xfrm>
            <a:off x="698500" y="565658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17"/>
          <p:cNvSpPr/>
          <p:nvPr/>
        </p:nvSpPr>
        <p:spPr>
          <a:xfrm>
            <a:off x="698500" y="564134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05</a:t>
            </a:r>
            <a:endParaRPr lang="en-US" sz="1100"/>
          </a:p>
        </p:txBody>
      </p:sp>
      <p:sp>
        <p:nvSpPr>
          <p:cNvPr id="23" name="AutoShape 19"/>
          <p:cNvSpPr/>
          <p:nvPr/>
        </p:nvSpPr>
        <p:spPr>
          <a:xfrm>
            <a:off x="6350000" y="165862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0"/>
          <p:cNvSpPr/>
          <p:nvPr/>
        </p:nvSpPr>
        <p:spPr>
          <a:xfrm>
            <a:off x="6350000" y="1651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06</a:t>
            </a:r>
            <a:endParaRPr lang="en-US" sz="1100"/>
          </a:p>
        </p:txBody>
      </p:sp>
      <p:sp>
        <p:nvSpPr>
          <p:cNvPr id="25" name="AutoShape 21"/>
          <p:cNvSpPr/>
          <p:nvPr/>
        </p:nvSpPr>
        <p:spPr>
          <a:xfrm>
            <a:off x="7048500" y="143764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pod_frame_acquire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功能：主动拉取模式获取视频流 | 用途：演示视频流主动拉取</a:t>
            </a:r>
            <a:endParaRPr lang="en-US" sz="11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26" name="AutoShape 22"/>
          <p:cNvSpPr/>
          <p:nvPr/>
        </p:nvSpPr>
        <p:spPr>
          <a:xfrm>
            <a:off x="6350000" y="263652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3"/>
          <p:cNvSpPr/>
          <p:nvPr/>
        </p:nvSpPr>
        <p:spPr>
          <a:xfrm>
            <a:off x="6350000" y="263652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07</a:t>
            </a:r>
            <a:endParaRPr lang="en-US" sz="1100"/>
          </a:p>
        </p:txBody>
      </p:sp>
      <p:sp>
        <p:nvSpPr>
          <p:cNvPr id="28" name="AutoShape 24"/>
          <p:cNvSpPr/>
          <p:nvPr/>
        </p:nvSpPr>
        <p:spPr>
          <a:xfrm>
            <a:off x="7033260" y="242062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front_camera_frame_callback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功能：回调模式获取前视相机画面 | 用途：演示前视相机回调</a:t>
            </a:r>
            <a:endParaRPr lang="en-US" sz="11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29" name="AutoShape 25"/>
          <p:cNvSpPr/>
          <p:nvPr/>
        </p:nvSpPr>
        <p:spPr>
          <a:xfrm>
            <a:off x="6350000" y="360426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26"/>
          <p:cNvSpPr/>
          <p:nvPr/>
        </p:nvSpPr>
        <p:spPr>
          <a:xfrm>
            <a:off x="6350000" y="360426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08</a:t>
            </a:r>
            <a:endParaRPr lang="en-US" sz="1100"/>
          </a:p>
        </p:txBody>
      </p:sp>
      <p:sp>
        <p:nvSpPr>
          <p:cNvPr id="31" name="AutoShape 27"/>
          <p:cNvSpPr/>
          <p:nvPr/>
        </p:nvSpPr>
        <p:spPr>
          <a:xfrm>
            <a:off x="7033260" y="342646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front_camera_frame_acquire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功能：主动拉取模式获取前视相机画面 | 用途：演示前视相机主动拉取</a:t>
            </a:r>
            <a:endParaRPr lang="en-US" sz="11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32" name="AutoShape 28"/>
          <p:cNvSpPr/>
          <p:nvPr/>
        </p:nvSpPr>
        <p:spPr>
          <a:xfrm>
            <a:off x="6365240" y="463296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29"/>
          <p:cNvSpPr/>
          <p:nvPr/>
        </p:nvSpPr>
        <p:spPr>
          <a:xfrm>
            <a:off x="6365240" y="463296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09</a:t>
            </a:r>
            <a:endParaRPr lang="en-US" sz="1100"/>
          </a:p>
        </p:txBody>
      </p:sp>
      <p:sp>
        <p:nvSpPr>
          <p:cNvPr id="34" name="AutoShape 30"/>
          <p:cNvSpPr/>
          <p:nvPr/>
        </p:nvSpPr>
        <p:spPr>
          <a:xfrm>
            <a:off x="7033260" y="444754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fisheye_depth_callback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功能：回调模式获取深度数据 | 用途：演示深度数据回调</a:t>
            </a:r>
            <a:endParaRPr lang="en-US" sz="11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35" name="AutoShape 31"/>
          <p:cNvSpPr/>
          <p:nvPr/>
        </p:nvSpPr>
        <p:spPr>
          <a:xfrm>
            <a:off x="6365240" y="5648960"/>
            <a:ext cx="508000" cy="508000"/>
          </a:xfrm>
          <a:prstGeom prst="ellipse">
            <a:avLst/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2"/>
          <p:cNvSpPr/>
          <p:nvPr/>
        </p:nvSpPr>
        <p:spPr>
          <a:xfrm>
            <a:off x="6365240" y="564896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10</a:t>
            </a:r>
            <a:endParaRPr lang="en-US" sz="1100"/>
          </a:p>
        </p:txBody>
      </p:sp>
      <p:sp>
        <p:nvSpPr>
          <p:cNvPr id="37" name="AutoShape 18"/>
          <p:cNvSpPr/>
          <p:nvPr/>
        </p:nvSpPr>
        <p:spPr>
          <a:xfrm>
            <a:off x="1273175" y="544068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pod_frame_callback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功能：回调模式获取视频流 | 用途：演示视频流回调</a:t>
            </a:r>
            <a:endParaRPr lang="en-US" sz="11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38" name="AutoShape 33"/>
          <p:cNvSpPr/>
          <p:nvPr/>
        </p:nvSpPr>
        <p:spPr>
          <a:xfrm>
            <a:off x="6964680" y="546608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fisheye_depth_acquire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功能：主动拉取模式获取深度数据 | 用途：演示深度数据主动拉取</a:t>
            </a:r>
            <a:endParaRPr lang="en-US" sz="11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6800" y="1955800"/>
            <a:ext cx="7581900" cy="116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298700" y="2425700"/>
            <a:ext cx="7645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核心概念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核心概念 - 生命周期</a:t>
            </a:r>
            <a:endParaRPr lang="en-US" altLang="zh-CN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1" name="组合 20"/>
          <p:cNvGrpSpPr/>
          <p:nvPr/>
        </p:nvGrpSpPr>
        <p:grpSpPr>
          <a:xfrm>
            <a:off x="871220" y="2167255"/>
            <a:ext cx="3225800" cy="1210945"/>
            <a:chOff x="6381" y="2393"/>
            <a:chExt cx="5339" cy="1907"/>
          </a:xfrm>
        </p:grpSpPr>
        <p:sp>
          <p:nvSpPr>
            <p:cNvPr id="11" name="AutoShape 6"/>
            <p:cNvSpPr/>
            <p:nvPr/>
          </p:nvSpPr>
          <p:spPr>
            <a:xfrm>
              <a:off x="6381" y="2532"/>
              <a:ext cx="5339" cy="1768"/>
            </a:xfrm>
            <a:prstGeom prst="roundRect">
              <a:avLst>
                <a:gd name="adj" fmla="val 0"/>
              </a:avLst>
            </a:prstGeom>
            <a:solidFill>
              <a:srgbClr val="FF8C00">
                <a:alpha val="8000"/>
              </a:srgbClr>
            </a:solidFill>
            <a:ln w="12700" cap="flat" cmpd="sng">
              <a:solidFill>
                <a:srgbClr val="FF8C00">
                  <a:alpha val="5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7"/>
            <p:cNvSpPr/>
            <p:nvPr/>
          </p:nvSpPr>
          <p:spPr>
            <a:xfrm>
              <a:off x="6647" y="2393"/>
              <a:ext cx="4997" cy="177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C6A86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构造对象</a:t>
              </a:r>
              <a:endParaRPr lang="en-US" sz="1500" b="1">
                <a:solidFill>
                  <a:srgbClr val="C6A86E"/>
                </a:solidFill>
                <a:latin typeface="Noto Sans SC"/>
                <a:ea typeface="Noto Sans SC"/>
                <a:cs typeface="Noto Sans SC"/>
              </a:endParaRPr>
            </a:p>
            <a:p>
              <a:pPr marL="0" indent="0" algn="l">
                <a:lnSpc>
                  <a:spcPct val="100000"/>
                </a:lnSpc>
              </a:pPr>
              <a:r>
                <a:rPr lang="en-US" sz="1200" b="1">
                  <a:solidFill>
                    <a:srgbClr val="02238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   </a:t>
              </a:r>
              <a:r>
                <a:rPr lang="en-US" sz="1200">
                  <a:solidFill>
                    <a:srgbClr val="1F232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通过 `Client(Config)` 创建实例，支持默认配置或自定义参数完成对象基础初始化。</a:t>
              </a:r>
              <a:endPara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452620" y="2255520"/>
            <a:ext cx="2933700" cy="1122045"/>
            <a:chOff x="7000" y="3216"/>
            <a:chExt cx="4620" cy="1767"/>
          </a:xfrm>
        </p:grpSpPr>
        <p:sp>
          <p:nvSpPr>
            <p:cNvPr id="13" name="AutoShape 8"/>
            <p:cNvSpPr/>
            <p:nvPr/>
          </p:nvSpPr>
          <p:spPr>
            <a:xfrm>
              <a:off x="7000" y="3216"/>
              <a:ext cx="4620" cy="1767"/>
            </a:xfrm>
            <a:prstGeom prst="roundRect">
              <a:avLst>
                <a:gd name="adj" fmla="val 0"/>
              </a:avLst>
            </a:prstGeom>
            <a:solidFill>
              <a:srgbClr val="FF8C00">
                <a:alpha val="8000"/>
              </a:srgbClr>
            </a:solidFill>
            <a:ln w="12700" cap="flat" cmpd="sng">
              <a:solidFill>
                <a:srgbClr val="FF8C00">
                  <a:alpha val="5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9"/>
            <p:cNvSpPr/>
            <p:nvPr/>
          </p:nvSpPr>
          <p:spPr>
            <a:xfrm>
              <a:off x="7216" y="3272"/>
              <a:ext cx="4131" cy="150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algn="l">
                <a:lnSpc>
                  <a:spcPct val="125000"/>
                </a:lnSpc>
                <a:buSzTx/>
                <a:defRPr/>
              </a:pPr>
              <a:r>
                <a:rPr lang="en-US" sz="1500" b="1" i="0" u="none" strike="noStrike">
                  <a:solidFill>
                    <a:srgbClr val="C6A86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建立连接</a:t>
              </a:r>
              <a:endParaRPr lang="en-US" sz="1500" b="1">
                <a:solidFill>
                  <a:srgbClr val="C6A86E"/>
                </a:solidFill>
                <a:latin typeface="Noto Sans SC"/>
                <a:ea typeface="Noto Sans SC"/>
                <a:cs typeface="Noto Sans SC"/>
              </a:endParaRPr>
            </a:p>
            <a:p>
              <a:pPr marL="0" indent="0" algn="l">
                <a:lnSpc>
                  <a:spcPct val="100000"/>
                </a:lnSpc>
              </a:pPr>
              <a:r>
                <a:rPr lang="en-US" sz="1200" b="1">
                  <a:solidFill>
                    <a:srgbClr val="02238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   </a:t>
              </a:r>
              <a:r>
                <a:rPr lang="en-US" sz="1200">
                  <a:solidFill>
                    <a:srgbClr val="1F232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调用 connect() 触发底层DDS传输通道初始化，建立稳定通信链路。</a:t>
              </a:r>
              <a:endPara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sp>
        <p:nvSpPr>
          <p:cNvPr id="15" name="AutoShape 10"/>
          <p:cNvSpPr/>
          <p:nvPr/>
        </p:nvSpPr>
        <p:spPr>
          <a:xfrm>
            <a:off x="7716520" y="2255520"/>
            <a:ext cx="3161665" cy="1122045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1"/>
          <p:cNvSpPr/>
          <p:nvPr/>
        </p:nvSpPr>
        <p:spPr>
          <a:xfrm>
            <a:off x="7937500" y="2419985"/>
            <a:ext cx="2832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03 业务运行</a:t>
            </a:r>
            <a:endParaRPr lang="en-US" sz="15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  <a:p>
            <a:pPr marL="0" indent="457200" algn="l">
              <a:lnSpc>
                <a:spcPct val="100000"/>
              </a:lnSpc>
            </a:pPr>
            <a:r>
              <a:rPr lang="en-US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主动调用RPC接口下发控制指令（如起飞、拍照），或被动监听 onEvent/onStatus 回调，接收设备状态、任务进度与事件通知。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2"/>
          <p:cNvSpPr/>
          <p:nvPr/>
        </p:nvSpPr>
        <p:spPr>
          <a:xfrm>
            <a:off x="2202180" y="3901440"/>
            <a:ext cx="3649345" cy="1089025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3"/>
          <p:cNvSpPr/>
          <p:nvPr/>
        </p:nvSpPr>
        <p:spPr>
          <a:xfrm>
            <a:off x="2499360" y="4028440"/>
            <a:ext cx="3095625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04 断开连接</a:t>
            </a:r>
            <a:endParaRPr lang="en-US" sz="1500" b="1" i="0" u="none" strike="noStrike">
              <a:solidFill>
                <a:srgbClr val="C6A86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调用 disconnect()，</a:t>
            </a:r>
            <a:r>
              <a:rPr lang="en-US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关闭传输连接，释放句柄与内存资源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4"/>
          <p:cNvSpPr/>
          <p:nvPr/>
        </p:nvSpPr>
        <p:spPr>
          <a:xfrm>
            <a:off x="6244590" y="3901440"/>
            <a:ext cx="3320415" cy="108839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15"/>
          <p:cNvSpPr/>
          <p:nvPr/>
        </p:nvSpPr>
        <p:spPr>
          <a:xfrm>
            <a:off x="6428740" y="4033520"/>
            <a:ext cx="3030855" cy="634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05 对象析构</a:t>
            </a:r>
            <a:endParaRPr lang="en-US" sz="15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结束 Client 生命周期。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核心概念 - 数据流</a:t>
            </a:r>
            <a:endParaRPr lang="zh-CN" altLang="en-US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7"/>
          <p:cNvSpPr/>
          <p:nvPr/>
        </p:nvSpPr>
        <p:spPr>
          <a:xfrm>
            <a:off x="1306830" y="1531620"/>
            <a:ext cx="9968230" cy="3220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7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01 控制RPC（同步调用）</a:t>
            </a:r>
            <a:endParaRPr lang="en-US" sz="1700" b="1" i="0" u="none" strike="noStrike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采用“请求-响应”阻塞模式，应用调用API后等待设备即时回复。适用于起飞、定高、航线规划等关键控制指令，确保操作结果可即时确认，保障控制指令的强一致性。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7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02 状态推送（异步通知）</a:t>
            </a:r>
            <a:endParaRPr lang="en-US" sz="1700" b="1" i="0" u="none" strike="noStrike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设备主动向SDK推送状态、事件及心跳数据，通过回调函数触发业务逻辑。非阻塞设计让应用高效感知设备动态，完美适配低电量告警、飞行姿态更新、突发事件响应等场景。</a:t>
            </a:r>
            <a:endParaRPr lang="en-US" sz="1600" b="0" i="0" u="none" strike="noStrike">
              <a:solidFill>
                <a:srgbClr val="1F232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7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03 视频帧（高效传输）</a:t>
            </a:r>
            <a:endParaRPr lang="en-US" sz="1700" b="1" i="0" u="none" strike="noStrike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45720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基于共享内存（IPC）实现进程间高速通信，SDK直接读取帧数据并分发。低传输延迟与高吞吐量特性，专为</a:t>
            </a:r>
            <a:r>
              <a:rPr lang="zh-CN" alt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吊舱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画面</a:t>
            </a:r>
            <a:r>
              <a:rPr lang="zh-CN" alt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处理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等大数据量场景打造。</a:t>
            </a:r>
            <a:endParaRPr lang="en-US" sz="1600" b="0" i="0" u="none" strike="noStrike">
              <a:solidFill>
                <a:srgbClr val="1F232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1" name="AutoShape 8"/>
          <p:cNvSpPr/>
          <p:nvPr/>
        </p:nvSpPr>
        <p:spPr>
          <a:xfrm>
            <a:off x="1407160" y="4752340"/>
            <a:ext cx="8777605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核心注意：异步任务的状态确认机制</a:t>
            </a:r>
            <a:endParaRPr lang="en-US" sz="1100"/>
          </a:p>
          <a:p>
            <a:pPr marL="0" indent="45720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起飞、返航、航线飞行等均为</a:t>
            </a: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异步执行任务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。RPC接口返回“成功”仅代表“指令已被设备接收并</a:t>
            </a:r>
            <a:r>
              <a:rPr lang="zh-CN" altLang="en-US" sz="1400" b="0" i="0" u="none" strike="noStrike">
                <a:solidFill>
                  <a:srgbClr val="1F2329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处理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”，不代表任务已完成。必须通过监听 onEvent 事件回调，才能准确获取任务的最终执行结果与状态。</a:t>
            </a:r>
            <a:endParaRPr lang="en-US" sz="14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核心概念 - 线程安全</a:t>
            </a:r>
            <a:endParaRPr lang="zh-CN" altLang="en-US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0" name="AutoShape 8"/>
          <p:cNvSpPr/>
          <p:nvPr/>
        </p:nvSpPr>
        <p:spPr>
          <a:xfrm>
            <a:off x="1935480" y="1714500"/>
            <a:ext cx="4191000" cy="1168400"/>
          </a:xfrm>
          <a:prstGeom prst="roundRect">
            <a:avLst>
              <a:gd name="adj" fmla="val 0"/>
            </a:avLst>
          </a:prstGeom>
          <a:solidFill>
            <a:srgbClr val="EBF2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9"/>
          <p:cNvSpPr/>
          <p:nvPr/>
        </p:nvSpPr>
        <p:spPr>
          <a:xfrm>
            <a:off x="2062480" y="1803400"/>
            <a:ext cx="40005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01 连接控制 (Connect/Disconnect)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B43232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非线程安全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：严禁与其他指令并发调用，建议在独立的控制线程中串行执行，防止连接状态异常。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0"/>
          <p:cNvSpPr/>
          <p:nvPr/>
        </p:nvSpPr>
        <p:spPr>
          <a:xfrm>
            <a:off x="6380480" y="1714500"/>
            <a:ext cx="4191000" cy="1168400"/>
          </a:xfrm>
          <a:prstGeom prst="roundRect">
            <a:avLst>
              <a:gd name="adj" fmla="val 0"/>
            </a:avLst>
          </a:prstGeom>
          <a:solidFill>
            <a:srgbClr val="EBF2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1"/>
          <p:cNvSpPr/>
          <p:nvPr/>
        </p:nvSpPr>
        <p:spPr>
          <a:xfrm>
            <a:off x="6507480" y="1803400"/>
            <a:ext cx="40005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02 飞行及控制接口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1E7832"/>
                </a:solidFill>
                <a:latin typeface="Noto Sans SC"/>
                <a:ea typeface="Noto Sans SC"/>
                <a:cs typeface="Noto Sans SC"/>
                <a:sym typeface="Noto Sans SC"/>
              </a:rPr>
              <a:t>✅ 线程安全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：Client实例内部实现串行化调度，多线程调用会被自动排队处理，上层无需额外加锁。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2"/>
          <p:cNvSpPr/>
          <p:nvPr/>
        </p:nvSpPr>
        <p:spPr>
          <a:xfrm>
            <a:off x="1935480" y="2865120"/>
            <a:ext cx="4191000" cy="1168400"/>
          </a:xfrm>
          <a:prstGeom prst="roundRect">
            <a:avLst>
              <a:gd name="adj" fmla="val 0"/>
            </a:avLst>
          </a:prstGeom>
          <a:solidFill>
            <a:srgbClr val="EBF2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3"/>
          <p:cNvSpPr/>
          <p:nvPr/>
        </p:nvSpPr>
        <p:spPr>
          <a:xfrm>
            <a:off x="2062480" y="2954020"/>
            <a:ext cx="40005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03 状态与事件回调 (onStatus)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B43232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非线程安全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：运行于SDK内部线程，需快速返回。严禁执行耗时IO或阻塞操作，建议仅做消息转发。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4"/>
          <p:cNvSpPr/>
          <p:nvPr/>
        </p:nvSpPr>
        <p:spPr>
          <a:xfrm>
            <a:off x="6380480" y="2865120"/>
            <a:ext cx="4191000" cy="1168400"/>
          </a:xfrm>
          <a:prstGeom prst="roundRect">
            <a:avLst>
              <a:gd name="adj" fmla="val 0"/>
            </a:avLst>
          </a:prstGeom>
          <a:solidFill>
            <a:srgbClr val="EBF2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5"/>
          <p:cNvSpPr/>
          <p:nvPr/>
        </p:nvSpPr>
        <p:spPr>
          <a:xfrm>
            <a:off x="6507480" y="2954020"/>
            <a:ext cx="40005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04 图像帧回调 (FrameCallback)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C87800"/>
                </a:solidFill>
                <a:latin typeface="Noto Sans SC"/>
                <a:ea typeface="Noto Sans SC"/>
                <a:cs typeface="Noto Sans SC"/>
                <a:sym typeface="Noto Sans SC"/>
              </a:rPr>
              <a:t>⚡ 高时效性要求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：处理时间&lt;单帧间隔，超时会导致丢帧。严禁持有帧数据指针，数据仅在回调内有效。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6"/>
          <p:cNvSpPr/>
          <p:nvPr/>
        </p:nvSpPr>
        <p:spPr>
          <a:xfrm>
            <a:off x="1935480" y="4381500"/>
            <a:ext cx="8636000" cy="1079500"/>
          </a:xfrm>
          <a:prstGeom prst="roundRect">
            <a:avLst>
              <a:gd name="adj" fmla="val 0"/>
            </a:avLst>
          </a:prstGeom>
          <a:solidFill>
            <a:srgbClr val="EBF2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7"/>
          <p:cNvSpPr/>
          <p:nvPr/>
        </p:nvSpPr>
        <p:spPr>
          <a:xfrm>
            <a:off x="2062480" y="4020820"/>
            <a:ext cx="838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05 主动帧管理 (Acquire / Release)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B43232"/>
                </a:solidFill>
                <a:latin typeface="Noto Sans SC"/>
                <a:ea typeface="Noto Sans SC"/>
                <a:cs typeface="Noto Sans SC"/>
                <a:sym typeface="Noto Sans SC"/>
              </a:rPr>
              <a:t>🔒 必须成对操作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：获取帧后务必调用releaseFrame归还，否则会造成内存泄漏、帧队列阻塞及设备端异常。这是开发中最易忽视的稳定性风险点。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8"/>
          <p:cNvSpPr/>
          <p:nvPr/>
        </p:nvSpPr>
        <p:spPr>
          <a:xfrm>
            <a:off x="729615" y="4866640"/>
            <a:ext cx="11515725" cy="1783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开发避坑指南与最佳实践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回调处理：回调函数内仅执行轻量级分发逻辑，严禁进行磁盘IO、网络请求或复杂计算等阻塞操作，以免占用IO线程导致消息积压。</a:t>
            </a:r>
            <a:endParaRPr lang="en-US" sz="14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资源管理：通过 acquireFrame 获取的图像/数据帧，必须在使用完毕后立即调用 releaseFrame 释放，防止内存持续泄漏导致程序崩溃。</a:t>
            </a:r>
            <a:endParaRPr lang="en-US" sz="14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6800" y="1955800"/>
            <a:ext cx="7581900" cy="116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298700" y="2425700"/>
            <a:ext cx="7645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API使用说明</a:t>
            </a:r>
            <a:endParaRPr lang="en-US" sz="1100"/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302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连接、系统与设备</a:t>
            </a: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状态</a:t>
            </a:r>
            <a:endParaRPr lang="zh-CN" altLang="en-US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880100" y="6586220"/>
            <a:ext cx="70612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400" b="0" i="0" u="none" strike="noStrike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698500" y="163068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5"/>
          <p:cNvSpPr/>
          <p:nvPr/>
        </p:nvSpPr>
        <p:spPr>
          <a:xfrm>
            <a:off x="952500" y="188468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01 连接管理核心接口</a:t>
            </a:r>
            <a:endParaRPr lang="en-US" sz="1100"/>
          </a:p>
        </p:txBody>
      </p:sp>
      <p:cxnSp>
        <p:nvCxnSpPr>
          <p:cNvPr id="11" name="Connector 6"/>
          <p:cNvCxnSpPr/>
          <p:nvPr/>
        </p:nvCxnSpPr>
        <p:spPr>
          <a:xfrm rot="-9291">
            <a:off x="952509" y="251333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837180"/>
            <a:ext cx="279400" cy="279400"/>
          </a:xfrm>
          <a:prstGeom prst="rect">
            <a:avLst/>
          </a:prstGeom>
        </p:spPr>
      </p:pic>
      <p:sp>
        <p:nvSpPr>
          <p:cNvPr id="13" name="AutoShape 8"/>
          <p:cNvSpPr/>
          <p:nvPr/>
        </p:nvSpPr>
        <p:spPr>
          <a:xfrm>
            <a:off x="1333500" y="2799080"/>
            <a:ext cx="4508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explicit Client(const Config&amp; = {})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客户端构造函数，支持传入配置参数初始化运行环境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535680"/>
            <a:ext cx="279400" cy="279400"/>
          </a:xfrm>
          <a:prstGeom prst="rect">
            <a:avLst/>
          </a:prstGeom>
        </p:spPr>
      </p:pic>
      <p:sp>
        <p:nvSpPr>
          <p:cNvPr id="15" name="AutoShape 10"/>
          <p:cNvSpPr/>
          <p:nvPr/>
        </p:nvSpPr>
        <p:spPr>
          <a:xfrm>
            <a:off x="1333500" y="3497580"/>
            <a:ext cx="4508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bool connect()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建立与DDS服务端的通信连接，阻塞等待配对完成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234180"/>
            <a:ext cx="279400" cy="279400"/>
          </a:xfrm>
          <a:prstGeom prst="rect">
            <a:avLst/>
          </a:prstGeom>
        </p:spPr>
      </p:pic>
      <p:sp>
        <p:nvSpPr>
          <p:cNvPr id="17" name="AutoShape 12"/>
          <p:cNvSpPr/>
          <p:nvPr/>
        </p:nvSpPr>
        <p:spPr>
          <a:xfrm>
            <a:off x="1333500" y="4196080"/>
            <a:ext cx="4508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void disconnect()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主动断开当前连接，释放相关网络资源与会话句柄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8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4932680"/>
            <a:ext cx="279400" cy="279400"/>
          </a:xfrm>
          <a:prstGeom prst="rect">
            <a:avLst/>
          </a:prstGeom>
        </p:spPr>
      </p:pic>
      <p:sp>
        <p:nvSpPr>
          <p:cNvPr id="19" name="AutoShape 14"/>
          <p:cNvSpPr/>
          <p:nvPr/>
        </p:nvSpPr>
        <p:spPr>
          <a:xfrm>
            <a:off x="1333500" y="4894580"/>
            <a:ext cx="4508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bool isConnected() const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实时检查客户端与服务端的连接状态，返回连通性结果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15"/>
          <p:cNvSpPr/>
          <p:nvPr/>
        </p:nvSpPr>
        <p:spPr>
          <a:xfrm>
            <a:off x="6159500" y="163068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16"/>
          <p:cNvSpPr/>
          <p:nvPr/>
        </p:nvSpPr>
        <p:spPr>
          <a:xfrm>
            <a:off x="6413500" y="188468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系统与设备信息查询</a:t>
            </a:r>
            <a:endParaRPr lang="en-US" sz="15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22" name="Connector 17"/>
          <p:cNvCxnSpPr/>
          <p:nvPr/>
        </p:nvCxnSpPr>
        <p:spPr>
          <a:xfrm rot="-9291">
            <a:off x="6413509" y="251333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2837180"/>
            <a:ext cx="279400" cy="279400"/>
          </a:xfrm>
          <a:prstGeom prst="rect">
            <a:avLst/>
          </a:prstGeom>
        </p:spPr>
      </p:pic>
      <p:sp>
        <p:nvSpPr>
          <p:cNvPr id="24" name="AutoShape 19"/>
          <p:cNvSpPr/>
          <p:nvPr/>
        </p:nvSpPr>
        <p:spPr>
          <a:xfrm>
            <a:off x="6794500" y="2799080"/>
            <a:ext cx="4508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getSystemStatus()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获取服务端运行状态、系统负载及整体健康度指标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5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3535680"/>
            <a:ext cx="279400" cy="279400"/>
          </a:xfrm>
          <a:prstGeom prst="rect">
            <a:avLst/>
          </a:prstGeom>
        </p:spPr>
      </p:pic>
      <p:sp>
        <p:nvSpPr>
          <p:cNvPr id="26" name="AutoShape 21"/>
          <p:cNvSpPr/>
          <p:nvPr/>
        </p:nvSpPr>
        <p:spPr>
          <a:xfrm>
            <a:off x="6794500" y="3497580"/>
            <a:ext cx="4508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listDevices() / getDevice(device_id)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枚举所有在线设备列表，或通过ID查询单设备详细信息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302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飞行与任务控制</a:t>
            </a:r>
            <a:endParaRPr lang="zh-CN" altLang="en-US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4"/>
          <p:cNvSpPr/>
          <p:nvPr/>
        </p:nvSpPr>
        <p:spPr>
          <a:xfrm>
            <a:off x="762000" y="1651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1854200"/>
            <a:ext cx="304800" cy="304800"/>
          </a:xfrm>
          <a:prstGeom prst="rect">
            <a:avLst/>
          </a:prstGeom>
        </p:spPr>
      </p:pic>
      <p:sp>
        <p:nvSpPr>
          <p:cNvPr id="10" name="AutoShape 6"/>
          <p:cNvSpPr/>
          <p:nvPr/>
        </p:nvSpPr>
        <p:spPr>
          <a:xfrm>
            <a:off x="1371600" y="18288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基础飞行控制</a:t>
            </a:r>
            <a:endParaRPr lang="en-US" sz="1800" b="1" i="0" u="none" strike="noStrike">
              <a:solidFill>
                <a:srgbClr val="C6A86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7"/>
          <p:cNvSpPr/>
          <p:nvPr/>
        </p:nvSpPr>
        <p:spPr>
          <a:xfrm>
            <a:off x="965200" y="2349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takeOff(height)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：一键起飞至指定高度，内置安全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宋体" charset="0"/>
                <a:cs typeface="Noto Sans SC"/>
                <a:sym typeface="Noto Sans SC"/>
              </a:rPr>
              <a:t>起飞自检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returnToAnyPosition()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：自定义经纬高，返航任意点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8"/>
          <p:cNvSpPr/>
          <p:nvPr/>
        </p:nvSpPr>
        <p:spPr>
          <a:xfrm>
            <a:off x="4394200" y="1651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7400" y="1854200"/>
            <a:ext cx="304800" cy="304800"/>
          </a:xfrm>
          <a:prstGeom prst="rect">
            <a:avLst/>
          </a:prstGeom>
        </p:spPr>
      </p:pic>
      <p:sp>
        <p:nvSpPr>
          <p:cNvPr id="14" name="AutoShape 10"/>
          <p:cNvSpPr/>
          <p:nvPr/>
        </p:nvSpPr>
        <p:spPr>
          <a:xfrm>
            <a:off x="5003800" y="18288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核心模式切换</a:t>
            </a:r>
            <a:endParaRPr lang="en-US" sz="1800" b="1" i="0" u="none" strike="noStrike">
              <a:solidFill>
                <a:srgbClr val="C6A86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1"/>
          <p:cNvSpPr/>
          <p:nvPr/>
        </p:nvSpPr>
        <p:spPr>
          <a:xfrm>
            <a:off x="4597400" y="2349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getModeStatus()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：实时查询当前飞行/任务模式状态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setPositionMode()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：切入位控模式，任务中调用等效暂停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setMissionMode(id)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：按航线ID启动任务或切回任务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forceStopTask()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：紧急终止任务，无人机原地悬停待命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2"/>
          <p:cNvSpPr/>
          <p:nvPr/>
        </p:nvSpPr>
        <p:spPr>
          <a:xfrm>
            <a:off x="8026400" y="1651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0" y="1854200"/>
            <a:ext cx="304800" cy="304800"/>
          </a:xfrm>
          <a:prstGeom prst="rect">
            <a:avLst/>
          </a:prstGeom>
        </p:spPr>
      </p:pic>
      <p:sp>
        <p:nvSpPr>
          <p:cNvPr id="18" name="AutoShape 14"/>
          <p:cNvSpPr/>
          <p:nvPr/>
        </p:nvSpPr>
        <p:spPr>
          <a:xfrm>
            <a:off x="8636000" y="18288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5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1500" b="1" i="0" u="none" strike="noStrike">
                <a:solidFill>
                  <a:srgbClr val="C6A86E"/>
                </a:solidFill>
                <a:latin typeface="Noto Sans SC"/>
                <a:ea typeface="宋体" charset="0"/>
                <a:cs typeface="Noto Sans SC"/>
                <a:sym typeface="Noto Sans SC"/>
              </a:rPr>
              <a:t>位置控制</a:t>
            </a:r>
            <a:endParaRPr lang="zh-CN" altLang="en-US" sz="1500" b="1" i="0" u="none" strike="noStrike">
              <a:solidFill>
                <a:srgbClr val="C6A86E"/>
              </a:solidFill>
              <a:latin typeface="Noto Sans SC"/>
              <a:ea typeface="宋体" charset="0"/>
              <a:cs typeface="Noto Sans SC"/>
              <a:sym typeface="Noto Sans SC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8229600" y="2349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setSpeed(x,y,z,yaw)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：设定机体三轴速度及偏航角速度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setPosition(...)：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基于WGS84坐标系，飞抵绝对地理坐标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setRelativePosition(...)：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相对当前位置的增量微调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支持实时姿态同步调整，满足航线协同与云台精准对位需求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16"/>
          <p:cNvSpPr/>
          <p:nvPr/>
        </p:nvSpPr>
        <p:spPr>
          <a:xfrm>
            <a:off x="762000" y="5143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8C00">
              <a:alpha val="12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200" y="5359400"/>
            <a:ext cx="355600" cy="355600"/>
          </a:xfrm>
          <a:prstGeom prst="rect">
            <a:avLst/>
          </a:prstGeom>
        </p:spPr>
      </p:pic>
      <p:sp>
        <p:nvSpPr>
          <p:cNvPr id="22" name="AutoShape 18"/>
          <p:cNvSpPr/>
          <p:nvPr/>
        </p:nvSpPr>
        <p:spPr>
          <a:xfrm>
            <a:off x="1447800" y="5308600"/>
            <a:ext cx="990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重要限制：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所有移动控制接口仅在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Position 模式且无人机解锁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后生效。非此状态下调用将返回指令无效错误。建议在业务代码中增加前置模式校验逻辑，通过 getModeStatus() 确认状态后再执行关键动作，以确保指令执行安全。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吊舱控制与功能封装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495040" y="1470025"/>
            <a:ext cx="7366000" cy="11842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457200" algn="just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无人机智能吊舱搭载多传感器融合系统，SDK 提供统一化的控制接口实现高效调度。针对硬件功能进行了高内聚的封装，覆盖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云台</a:t>
            </a:r>
            <a:r>
              <a:rPr lang="en-US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执行到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媒体</a:t>
            </a:r>
            <a:r>
              <a:rPr lang="en-US" sz="1600" b="0" i="0" u="none" strike="noStrike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数据采集的全流程能力，适配多场景需求。</a:t>
            </a:r>
            <a:endParaRPr lang="en-US" sz="1600" b="0" i="0" u="none" strike="noStrike">
              <a:solidFill>
                <a:schemeClr val="tx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15" y="2413000"/>
            <a:ext cx="2707005" cy="2921000"/>
          </a:xfrm>
          <a:prstGeom prst="rect">
            <a:avLst/>
          </a:prstGeom>
        </p:spPr>
      </p:pic>
      <p:sp>
        <p:nvSpPr>
          <p:cNvPr id="10" name="AutoShape 8"/>
          <p:cNvSpPr/>
          <p:nvPr/>
        </p:nvSpPr>
        <p:spPr>
          <a:xfrm>
            <a:off x="3749040" y="2933700"/>
            <a:ext cx="3365500" cy="1168400"/>
          </a:xfrm>
          <a:prstGeom prst="roundRect">
            <a:avLst>
              <a:gd name="adj" fmla="val 0"/>
            </a:avLst>
          </a:prstGeom>
          <a:solidFill>
            <a:srgbClr val="FF8C00">
              <a:alpha val="7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9540" y="3124200"/>
            <a:ext cx="304800" cy="304800"/>
          </a:xfrm>
          <a:prstGeom prst="rect">
            <a:avLst/>
          </a:prstGeom>
        </p:spPr>
      </p:pic>
      <p:sp>
        <p:nvSpPr>
          <p:cNvPr id="12" name="AutoShape 10"/>
          <p:cNvSpPr/>
          <p:nvPr/>
        </p:nvSpPr>
        <p:spPr>
          <a:xfrm>
            <a:off x="4358640" y="31242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云台全向控制</a:t>
            </a:r>
            <a:endParaRPr lang="en-US" sz="1100"/>
          </a:p>
        </p:txBody>
      </p:sp>
      <p:sp>
        <p:nvSpPr>
          <p:cNvPr id="13" name="AutoShape 11"/>
          <p:cNvSpPr/>
          <p:nvPr/>
        </p:nvSpPr>
        <p:spPr>
          <a:xfrm>
            <a:off x="3939540" y="3530600"/>
            <a:ext cx="2984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gimbalControlSpeed/AngleSet 等，支持速度/角度双模式，一键回中与急停。</a:t>
            </a:r>
            <a:endParaRPr lang="en-US" sz="1100"/>
          </a:p>
        </p:txBody>
      </p:sp>
      <p:sp>
        <p:nvSpPr>
          <p:cNvPr id="14" name="AutoShape 12"/>
          <p:cNvSpPr/>
          <p:nvPr/>
        </p:nvSpPr>
        <p:spPr>
          <a:xfrm>
            <a:off x="7241540" y="2933700"/>
            <a:ext cx="3365500" cy="1168400"/>
          </a:xfrm>
          <a:prstGeom prst="roundRect">
            <a:avLst>
              <a:gd name="adj" fmla="val 0"/>
            </a:avLst>
          </a:prstGeom>
          <a:solidFill>
            <a:srgbClr val="FF8C00">
              <a:alpha val="7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32040" y="3124200"/>
            <a:ext cx="304800" cy="304800"/>
          </a:xfrm>
          <a:prstGeom prst="rect">
            <a:avLst/>
          </a:prstGeom>
        </p:spPr>
      </p:pic>
      <p:sp>
        <p:nvSpPr>
          <p:cNvPr id="16" name="AutoShape 14"/>
          <p:cNvSpPr/>
          <p:nvPr/>
        </p:nvSpPr>
        <p:spPr>
          <a:xfrm>
            <a:off x="7851140" y="31242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末端夹手操控</a:t>
            </a:r>
            <a:endParaRPr lang="en-US" sz="1100"/>
          </a:p>
        </p:txBody>
      </p:sp>
      <p:sp>
        <p:nvSpPr>
          <p:cNvPr id="17" name="AutoShape 15"/>
          <p:cNvSpPr/>
          <p:nvPr/>
        </p:nvSpPr>
        <p:spPr>
          <a:xfrm>
            <a:off x="7432040" y="3530600"/>
            <a:ext cx="2984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gripperOpen / Close，毫秒级电机响应，精准控制开合角度与力度。</a:t>
            </a:r>
            <a:endParaRPr lang="en-US" sz="1100"/>
          </a:p>
        </p:txBody>
      </p:sp>
      <p:sp>
        <p:nvSpPr>
          <p:cNvPr id="18" name="AutoShape 16"/>
          <p:cNvSpPr/>
          <p:nvPr/>
        </p:nvSpPr>
        <p:spPr>
          <a:xfrm>
            <a:off x="3749040" y="4203700"/>
            <a:ext cx="3365500" cy="1168400"/>
          </a:xfrm>
          <a:prstGeom prst="roundRect">
            <a:avLst>
              <a:gd name="adj" fmla="val 0"/>
            </a:avLst>
          </a:prstGeom>
          <a:solidFill>
            <a:srgbClr val="FF8C00">
              <a:alpha val="7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9540" y="4394200"/>
            <a:ext cx="304800" cy="304800"/>
          </a:xfrm>
          <a:prstGeom prst="rect">
            <a:avLst/>
          </a:prstGeom>
        </p:spPr>
      </p:pic>
      <p:sp>
        <p:nvSpPr>
          <p:cNvPr id="20" name="AutoShape 18"/>
          <p:cNvSpPr/>
          <p:nvPr/>
        </p:nvSpPr>
        <p:spPr>
          <a:xfrm>
            <a:off x="4358640" y="43942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视觉媒体采集</a:t>
            </a:r>
            <a:endParaRPr lang="en-US" sz="1100"/>
          </a:p>
        </p:txBody>
      </p:sp>
      <p:sp>
        <p:nvSpPr>
          <p:cNvPr id="21" name="AutoShape 19"/>
          <p:cNvSpPr/>
          <p:nvPr/>
        </p:nvSpPr>
        <p:spPr>
          <a:xfrm>
            <a:off x="3939540" y="4800600"/>
            <a:ext cx="2984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cameraZoom变焦、拍照与录像启停，支持配置分辨率与画质参数。</a:t>
            </a:r>
            <a:endParaRPr lang="en-US" sz="1100"/>
          </a:p>
        </p:txBody>
      </p:sp>
      <p:sp>
        <p:nvSpPr>
          <p:cNvPr id="22" name="AutoShape 20"/>
          <p:cNvSpPr/>
          <p:nvPr/>
        </p:nvSpPr>
        <p:spPr>
          <a:xfrm>
            <a:off x="7241540" y="4203700"/>
            <a:ext cx="3365500" cy="1168400"/>
          </a:xfrm>
          <a:prstGeom prst="roundRect">
            <a:avLst>
              <a:gd name="adj" fmla="val 0"/>
            </a:avLst>
          </a:prstGeom>
          <a:solidFill>
            <a:srgbClr val="FF8C00">
              <a:alpha val="7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32040" y="4394200"/>
            <a:ext cx="304800" cy="304800"/>
          </a:xfrm>
          <a:prstGeom prst="rect">
            <a:avLst/>
          </a:prstGeom>
        </p:spPr>
      </p:pic>
      <p:sp>
        <p:nvSpPr>
          <p:cNvPr id="24" name="AutoShape 22"/>
          <p:cNvSpPr/>
          <p:nvPr/>
        </p:nvSpPr>
        <p:spPr>
          <a:xfrm>
            <a:off x="7851140" y="43942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红外热感成像</a:t>
            </a:r>
            <a:endParaRPr lang="en-US" sz="1100"/>
          </a:p>
        </p:txBody>
      </p:sp>
      <p:sp>
        <p:nvSpPr>
          <p:cNvPr id="25" name="AutoShape 23"/>
          <p:cNvSpPr/>
          <p:nvPr/>
        </p:nvSpPr>
        <p:spPr>
          <a:xfrm>
            <a:off x="7432040" y="4800600"/>
            <a:ext cx="2984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cameraTempPointSet单点测温与区域分析，支持调色板自定义配置。</a:t>
            </a:r>
            <a:endParaRPr lang="en-US" sz="1100"/>
          </a:p>
        </p:txBody>
      </p:sp>
      <p:sp>
        <p:nvSpPr>
          <p:cNvPr id="26" name="AutoShape 24"/>
          <p:cNvSpPr/>
          <p:nvPr/>
        </p:nvSpPr>
        <p:spPr>
          <a:xfrm>
            <a:off x="3749040" y="5511800"/>
            <a:ext cx="6858000" cy="482600"/>
          </a:xfrm>
          <a:prstGeom prst="roundRect">
            <a:avLst>
              <a:gd name="adj" fmla="val 0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5"/>
          <p:cNvSpPr/>
          <p:nvPr/>
        </p:nvSpPr>
        <p:spPr>
          <a:xfrm>
            <a:off x="3876040" y="5588000"/>
            <a:ext cx="660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C5500"/>
                </a:solidFill>
                <a:latin typeface="Noto Sans SC"/>
                <a:ea typeface="Noto Sans SC"/>
                <a:cs typeface="Noto Sans SC"/>
                <a:sym typeface="Noto Sans SC"/>
              </a:rPr>
              <a:t>💡 开发贴士：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调用 capturePhoto 或 recordOff 时，可直接传入本地路径参数，SDK将自动下载并保存媒体文件。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无人机状态回调机制与监控体系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90600" y="1554480"/>
            <a:ext cx="8382000" cy="507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全链路数据捕获：四大核心回调类型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endParaRPr lang="en-US" sz="1500" b="0" i="0" u="none" strike="noStrike">
              <a:solidFill>
                <a:srgbClr val="37415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0" name="AutoShape 6"/>
          <p:cNvSpPr/>
          <p:nvPr/>
        </p:nvSpPr>
        <p:spPr>
          <a:xfrm>
            <a:off x="1440815" y="2242185"/>
            <a:ext cx="9082405" cy="1151255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7"/>
          <p:cNvSpPr/>
          <p:nvPr/>
        </p:nvSpPr>
        <p:spPr>
          <a:xfrm>
            <a:off x="1898015" y="2186305"/>
            <a:ext cx="377825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StatusCallback 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设备状态全量实时推送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000"/>
              </a:lnSpc>
              <a:defRPr/>
            </a:pP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● EventCallback 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告警与任务异步事件通知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8"/>
          <p:cNvSpPr/>
          <p:nvPr/>
        </p:nvSpPr>
        <p:spPr>
          <a:xfrm>
            <a:off x="6118225" y="2232025"/>
            <a:ext cx="386334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● HeartbeatCallback 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高频保活信号监测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000"/>
              </a:lnSpc>
              <a:defRPr/>
            </a:pP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● FrameCallback 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原始视频流帧数据回调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1"/>
          <p:cNvSpPr/>
          <p:nvPr/>
        </p:nvSpPr>
        <p:spPr>
          <a:xfrm>
            <a:off x="1440180" y="3681730"/>
            <a:ext cx="2108200" cy="1460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2580" y="3846830"/>
            <a:ext cx="279400" cy="279400"/>
          </a:xfrm>
          <a:prstGeom prst="rect">
            <a:avLst/>
          </a:prstGeom>
        </p:spPr>
      </p:pic>
      <p:sp>
        <p:nvSpPr>
          <p:cNvPr id="15" name="AutoShape 13"/>
          <p:cNvSpPr/>
          <p:nvPr/>
        </p:nvSpPr>
        <p:spPr>
          <a:xfrm>
            <a:off x="1948180" y="384683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高频状态同步</a:t>
            </a:r>
            <a:endParaRPr lang="en-US" sz="1100"/>
          </a:p>
        </p:txBody>
      </p:sp>
      <p:sp>
        <p:nvSpPr>
          <p:cNvPr id="16" name="AutoShape 14"/>
          <p:cNvSpPr/>
          <p:nvPr/>
        </p:nvSpPr>
        <p:spPr>
          <a:xfrm>
            <a:off x="1592580" y="427863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包含飞控姿态、电池电量等核心数据，更新频率约500ms/次，用于实时监控。</a:t>
            </a:r>
            <a:endParaRPr lang="en-US" sz="1100"/>
          </a:p>
        </p:txBody>
      </p:sp>
      <p:sp>
        <p:nvSpPr>
          <p:cNvPr id="17" name="AutoShape 15"/>
          <p:cNvSpPr/>
          <p:nvPr/>
        </p:nvSpPr>
        <p:spPr>
          <a:xfrm>
            <a:off x="3771900" y="3681730"/>
            <a:ext cx="2108200" cy="1460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4300" y="3846830"/>
            <a:ext cx="279400" cy="279400"/>
          </a:xfrm>
          <a:prstGeom prst="rect">
            <a:avLst/>
          </a:prstGeom>
        </p:spPr>
      </p:pic>
      <p:sp>
        <p:nvSpPr>
          <p:cNvPr id="19" name="AutoShape 17"/>
          <p:cNvSpPr/>
          <p:nvPr/>
        </p:nvSpPr>
        <p:spPr>
          <a:xfrm>
            <a:off x="4279900" y="384683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关键事件告警</a:t>
            </a:r>
            <a:endParaRPr lang="en-US" sz="1100"/>
          </a:p>
        </p:txBody>
      </p:sp>
      <p:sp>
        <p:nvSpPr>
          <p:cNvPr id="20" name="AutoShape 18"/>
          <p:cNvSpPr/>
          <p:nvPr/>
        </p:nvSpPr>
        <p:spPr>
          <a:xfrm>
            <a:off x="3924300" y="427863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异步触发机制，涵盖低电告警、GPS失锁、任务完成等重要系统事件。</a:t>
            </a:r>
            <a:endParaRPr lang="en-US" sz="1100"/>
          </a:p>
        </p:txBody>
      </p:sp>
      <p:sp>
        <p:nvSpPr>
          <p:cNvPr id="21" name="AutoShape 19"/>
          <p:cNvSpPr/>
          <p:nvPr/>
        </p:nvSpPr>
        <p:spPr>
          <a:xfrm>
            <a:off x="6111240" y="3681730"/>
            <a:ext cx="2108200" cy="1460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3640" y="3846830"/>
            <a:ext cx="279400" cy="279400"/>
          </a:xfrm>
          <a:prstGeom prst="rect">
            <a:avLst/>
          </a:prstGeom>
        </p:spPr>
      </p:pic>
      <p:sp>
        <p:nvSpPr>
          <p:cNvPr id="23" name="AutoShape 21"/>
          <p:cNvSpPr/>
          <p:nvPr/>
        </p:nvSpPr>
        <p:spPr>
          <a:xfrm>
            <a:off x="6619240" y="384683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连接保活监测</a:t>
            </a:r>
            <a:endParaRPr lang="en-US" sz="1100"/>
          </a:p>
        </p:txBody>
      </p:sp>
      <p:sp>
        <p:nvSpPr>
          <p:cNvPr id="24" name="AutoShape 22"/>
          <p:cNvSpPr/>
          <p:nvPr/>
        </p:nvSpPr>
        <p:spPr>
          <a:xfrm>
            <a:off x="6263640" y="427863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轻量级Keepalive机制，频率约1s/次，用于快速检测连接健康状态。</a:t>
            </a:r>
            <a:endParaRPr lang="en-US" sz="1100"/>
          </a:p>
        </p:txBody>
      </p:sp>
      <p:sp>
        <p:nvSpPr>
          <p:cNvPr id="25" name="AutoShape 19"/>
          <p:cNvSpPr/>
          <p:nvPr/>
        </p:nvSpPr>
        <p:spPr>
          <a:xfrm>
            <a:off x="8415020" y="3676650"/>
            <a:ext cx="2108200" cy="1460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1"/>
          <p:cNvSpPr/>
          <p:nvPr/>
        </p:nvSpPr>
        <p:spPr>
          <a:xfrm>
            <a:off x="8923020" y="384175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媒体流处理</a:t>
            </a:r>
            <a:endParaRPr lang="zh-CN" altLang="en-US" sz="1100">
              <a:ea typeface="宋体" charset="0"/>
            </a:endParaRPr>
          </a:p>
        </p:txBody>
      </p:sp>
      <p:sp>
        <p:nvSpPr>
          <p:cNvPr id="28" name="AutoShape 22"/>
          <p:cNvSpPr/>
          <p:nvPr/>
        </p:nvSpPr>
        <p:spPr>
          <a:xfrm>
            <a:off x="8567420" y="427355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使用IPC，高效获取</a:t>
            </a:r>
            <a:r>
              <a:rPr lang="zh-CN" altLang="en-US" sz="1200">
                <a:solidFill>
                  <a:srgbClr val="666666"/>
                </a:solidFill>
                <a:latin typeface="Noto Sans SC"/>
                <a:ea typeface="宋体" charset="0"/>
                <a:cs typeface="Noto Sans SC"/>
              </a:rPr>
              <a:t>媒体帧数据，通过回调机制同步处理数据。</a:t>
            </a:r>
            <a:endParaRPr lang="zh-CN" altLang="en-US" sz="1200">
              <a:solidFill>
                <a:srgbClr val="666666"/>
              </a:solidFill>
              <a:latin typeface="Noto Sans SC"/>
              <a:ea typeface="宋体" charset="0"/>
              <a:cs typeface="Noto Sans SC"/>
            </a:endParaRPr>
          </a:p>
        </p:txBody>
      </p:sp>
      <p:pic>
        <p:nvPicPr>
          <p:cNvPr id="29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6780" y="3876040"/>
            <a:ext cx="304800" cy="304800"/>
          </a:xfrm>
          <a:prstGeom prst="rect">
            <a:avLst/>
          </a:prstGeom>
        </p:spPr>
      </p:pic>
      <p:sp>
        <p:nvSpPr>
          <p:cNvPr id="47" name="AutoShape 28"/>
          <p:cNvSpPr/>
          <p:nvPr/>
        </p:nvSpPr>
        <p:spPr>
          <a:xfrm>
            <a:off x="1440180" y="5494655"/>
            <a:ext cx="9133205" cy="762000"/>
          </a:xfrm>
          <a:prstGeom prst="roundRect">
            <a:avLst>
              <a:gd name="adj" fmla="val 0"/>
            </a:avLst>
          </a:prstGeom>
          <a:solidFill>
            <a:srgbClr val="FF8C00">
              <a:alpha val="12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29"/>
          <p:cNvSpPr/>
          <p:nvPr/>
        </p:nvSpPr>
        <p:spPr>
          <a:xfrm>
            <a:off x="1638300" y="5654040"/>
            <a:ext cx="861631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💡 补充说明：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前支持的详细的事件类型，可以参见《无人机通用控制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SDK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说明书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.md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》支持的事件类型章节。</a:t>
            </a:r>
            <a:endParaRPr lang="en-US" altLang="zh-CN" sz="1300" b="0" i="0" u="none" strike="noStrike">
              <a:solidFill>
                <a:srgbClr val="4B5563"/>
              </a:solidFill>
              <a:latin typeface="Noto Sans SC"/>
              <a:ea typeface="宋体" charset="0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12"/>
          <p:cNvSpPr/>
          <p:nvPr/>
        </p:nvSpPr>
        <p:spPr>
          <a:xfrm>
            <a:off x="6365240" y="4485005"/>
            <a:ext cx="2430145" cy="699135"/>
          </a:xfrm>
          <a:prstGeom prst="roundRect">
            <a:avLst>
              <a:gd name="adj" fmla="val 0"/>
            </a:avLst>
          </a:prstGeom>
          <a:solidFill>
            <a:srgbClr val="FF8C0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12"/>
          <p:cNvSpPr/>
          <p:nvPr/>
        </p:nvSpPr>
        <p:spPr>
          <a:xfrm>
            <a:off x="3842385" y="4486275"/>
            <a:ext cx="2430145" cy="699135"/>
          </a:xfrm>
          <a:prstGeom prst="roundRect">
            <a:avLst>
              <a:gd name="adj" fmla="val 0"/>
            </a:avLst>
          </a:prstGeom>
          <a:solidFill>
            <a:srgbClr val="FF8C0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12"/>
          <p:cNvSpPr/>
          <p:nvPr/>
        </p:nvSpPr>
        <p:spPr>
          <a:xfrm>
            <a:off x="8923655" y="4479925"/>
            <a:ext cx="2430145" cy="699135"/>
          </a:xfrm>
          <a:prstGeom prst="roundRect">
            <a:avLst>
              <a:gd name="adj" fmla="val 0"/>
            </a:avLst>
          </a:prstGeom>
          <a:solidFill>
            <a:srgbClr val="FF8C0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媒体</a:t>
            </a: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帧</a:t>
            </a: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处理</a:t>
            </a:r>
            <a:endParaRPr lang="zh-CN" altLang="en-US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6"/>
          <p:cNvSpPr/>
          <p:nvPr/>
        </p:nvSpPr>
        <p:spPr>
          <a:xfrm>
            <a:off x="924560" y="1489075"/>
            <a:ext cx="10632440" cy="2257425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7"/>
          <p:cNvSpPr/>
          <p:nvPr/>
        </p:nvSpPr>
        <p:spPr>
          <a:xfrm>
            <a:off x="1430020" y="1878330"/>
            <a:ext cx="9872980" cy="407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核心接口调用规范</a:t>
            </a:r>
            <a:endParaRPr lang="en-US" sz="18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8"/>
          <p:cNvSpPr/>
          <p:nvPr/>
        </p:nvSpPr>
        <p:spPr>
          <a:xfrm>
            <a:off x="3064510" y="2235835"/>
            <a:ext cx="4936490" cy="13836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openFramePool(type, opts)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初始化帧池，指定类型与缓存参数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acquireFrame(type, view)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300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取帧</a:t>
            </a:r>
            <a:r>
              <a:rPr lang="en-US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模式主动获取帧，超时阻塞或报错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9"/>
          <p:cNvSpPr/>
          <p:nvPr/>
        </p:nvSpPr>
        <p:spPr>
          <a:xfrm>
            <a:off x="6366510" y="2235835"/>
            <a:ext cx="4936490" cy="13836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setFrameCallback(type, cb)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推模式回调注册，</a:t>
            </a:r>
            <a:r>
              <a:rPr lang="en-US" sz="1300" b="0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需在open前调用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releaseFrame(type, view)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归还帧资源，防止内存溢出与死锁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0"/>
          <p:cNvSpPr/>
          <p:nvPr/>
        </p:nvSpPr>
        <p:spPr>
          <a:xfrm>
            <a:off x="924560" y="3760470"/>
            <a:ext cx="10632440" cy="167513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1"/>
          <p:cNvSpPr/>
          <p:nvPr/>
        </p:nvSpPr>
        <p:spPr>
          <a:xfrm>
            <a:off x="1430020" y="3973830"/>
            <a:ext cx="9872980" cy="407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支持的流通道枚举 (StreamChannelType)</a:t>
            </a:r>
            <a:endParaRPr lang="en-US" sz="1100"/>
          </a:p>
        </p:txBody>
      </p:sp>
      <p:sp>
        <p:nvSpPr>
          <p:cNvPr id="15" name="AutoShape 12"/>
          <p:cNvSpPr/>
          <p:nvPr/>
        </p:nvSpPr>
        <p:spPr>
          <a:xfrm>
            <a:off x="1254760" y="4479925"/>
            <a:ext cx="2430145" cy="699135"/>
          </a:xfrm>
          <a:prstGeom prst="roundRect">
            <a:avLst>
              <a:gd name="adj" fmla="val 0"/>
            </a:avLst>
          </a:prstGeom>
          <a:solidFill>
            <a:srgbClr val="FF8C0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3"/>
          <p:cNvSpPr/>
          <p:nvPr/>
        </p:nvSpPr>
        <p:spPr>
          <a:xfrm>
            <a:off x="1254760" y="4457065"/>
            <a:ext cx="2430145" cy="699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吊舱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可见光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Pod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VisibleLight</a:t>
            </a:r>
            <a:endParaRPr lang="en-US" sz="1100"/>
          </a:p>
        </p:txBody>
      </p:sp>
      <p:sp>
        <p:nvSpPr>
          <p:cNvPr id="18" name="AutoShape 15"/>
          <p:cNvSpPr/>
          <p:nvPr/>
        </p:nvSpPr>
        <p:spPr>
          <a:xfrm>
            <a:off x="3820795" y="4487545"/>
            <a:ext cx="2430145" cy="699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FFFFFF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吊舱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红外热成像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Pod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Infrared</a:t>
            </a:r>
            <a:endParaRPr lang="en-US" sz="1100"/>
          </a:p>
        </p:txBody>
      </p:sp>
      <p:sp>
        <p:nvSpPr>
          <p:cNvPr id="22" name="AutoShape 19"/>
          <p:cNvSpPr/>
          <p:nvPr/>
        </p:nvSpPr>
        <p:spPr>
          <a:xfrm>
            <a:off x="8946515" y="4495165"/>
            <a:ext cx="2430145" cy="699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四目鱼眼感知的深度信息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FisheyeDepth</a:t>
            </a:r>
            <a:endParaRPr lang="en-US" sz="1100"/>
          </a:p>
        </p:txBody>
      </p:sp>
      <p:sp>
        <p:nvSpPr>
          <p:cNvPr id="23" name="AutoShape 20"/>
          <p:cNvSpPr/>
          <p:nvPr/>
        </p:nvSpPr>
        <p:spPr>
          <a:xfrm>
            <a:off x="924560" y="5494020"/>
            <a:ext cx="10632440" cy="728345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0020" y="5652135"/>
            <a:ext cx="379730" cy="379730"/>
          </a:xfrm>
          <a:prstGeom prst="rect">
            <a:avLst/>
          </a:prstGeom>
        </p:spPr>
      </p:pic>
      <p:sp>
        <p:nvSpPr>
          <p:cNvPr id="25" name="AutoShape 22"/>
          <p:cNvSpPr/>
          <p:nvPr/>
        </p:nvSpPr>
        <p:spPr>
          <a:xfrm>
            <a:off x="1779270" y="5576570"/>
            <a:ext cx="9777730" cy="58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关键约束：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媒体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通道，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回调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与取帧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模式互斥，同时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使用以回调模式为主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,</a:t>
            </a:r>
            <a:r>
              <a:rPr lang="zh-CN" altLang="en-US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取帧</a:t>
            </a:r>
            <a:r>
              <a:rPr lang="en-US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</a:t>
            </a:r>
            <a:r>
              <a:rPr lang="zh-CN" altLang="en-US">
                <a:solidFill>
                  <a:srgbClr val="4B5563"/>
                </a:solidFill>
                <a:latin typeface="Noto Sans SC"/>
                <a:ea typeface="宋体" charset="0"/>
                <a:cs typeface="Noto Sans SC"/>
                <a:sym typeface="Noto Sans SC"/>
              </a:rPr>
              <a:t>调用会超时</a:t>
            </a:r>
            <a:endParaRPr lang="zh-CN" altLang="en-US" sz="1400" b="0" i="0" u="none" strike="noStrike">
              <a:solidFill>
                <a:srgbClr val="4B5563"/>
              </a:solidFill>
              <a:latin typeface="Noto Sans SC"/>
              <a:ea typeface="宋体" charset="0"/>
              <a:cs typeface="Noto Sans SC"/>
              <a:sym typeface="Noto Sans SC"/>
            </a:endParaRPr>
          </a:p>
        </p:txBody>
      </p:sp>
      <p:sp>
        <p:nvSpPr>
          <p:cNvPr id="30" name="AutoShape 17"/>
          <p:cNvSpPr/>
          <p:nvPr/>
        </p:nvSpPr>
        <p:spPr>
          <a:xfrm>
            <a:off x="6386830" y="4487545"/>
            <a:ext cx="2430145" cy="699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 SC"/>
                <a:ea typeface="宋体" charset="0"/>
                <a:cs typeface="Noto Sans SC"/>
                <a:sym typeface="Noto Sans SC"/>
              </a:rPr>
              <a:t>无人机前向视频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ront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6800" y="1955800"/>
            <a:ext cx="7581900" cy="116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298700" y="2425700"/>
            <a:ext cx="7645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 </a:t>
            </a:r>
            <a:r>
              <a:rPr lang="zh-CN" altLang="en-US" sz="2800" b="1" i="0" u="none" strike="noStrike" spc="100">
                <a:solidFill>
                  <a:srgbClr val="FFFFFF"/>
                </a:solidFill>
                <a:latin typeface="Noto Sans SC"/>
                <a:ea typeface="宋体" charset="0"/>
                <a:cs typeface="Noto Sans SC"/>
                <a:sym typeface="Noto Sans SC"/>
              </a:rPr>
              <a:t>错误码和基本故障排查</a:t>
            </a:r>
            <a:endParaRPr lang="en-US" altLang="zh-CN" sz="2800" b="1" i="0" u="none" strike="noStrike" spc="100">
              <a:solidFill>
                <a:srgbClr val="FFFFFF"/>
              </a:solidFill>
              <a:latin typeface="Noto Sans SC"/>
              <a:ea typeface="宋体" charset="0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错误码</a:t>
            </a:r>
            <a:endParaRPr lang="zh-CN" altLang="en-US" sz="3200" b="1" i="0" u="none" strike="noStrike" spc="100">
              <a:solidFill>
                <a:srgbClr val="02238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4"/>
          <p:cNvSpPr/>
          <p:nvPr/>
        </p:nvSpPr>
        <p:spPr>
          <a:xfrm>
            <a:off x="762000" y="139954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5"/>
          <p:cNvSpPr/>
          <p:nvPr/>
        </p:nvSpPr>
        <p:spPr>
          <a:xfrm>
            <a:off x="952500" y="155194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 (Ok)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操作成功</a:t>
            </a:r>
            <a:endParaRPr lang="en-US" sz="1100"/>
          </a:p>
        </p:txBody>
      </p:sp>
      <p:cxnSp>
        <p:nvCxnSpPr>
          <p:cNvPr id="8" name="Connector 6"/>
          <p:cNvCxnSpPr/>
          <p:nvPr/>
        </p:nvCxnSpPr>
        <p:spPr>
          <a:xfrm rot="-14566">
            <a:off x="952513" y="202819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7"/>
          <p:cNvSpPr/>
          <p:nvPr/>
        </p:nvSpPr>
        <p:spPr>
          <a:xfrm>
            <a:off x="952500" y="216154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接口调用正常完成，业务逻辑已按预期执行。无异常原因，亦无需额外处理，代表请求已成功落地。</a:t>
            </a:r>
            <a:endParaRPr lang="en-US" sz="1100"/>
          </a:p>
        </p:txBody>
      </p:sp>
      <p:sp>
        <p:nvSpPr>
          <p:cNvPr id="19" name="AutoShape 8"/>
          <p:cNvSpPr/>
          <p:nvPr/>
        </p:nvSpPr>
        <p:spPr>
          <a:xfrm>
            <a:off x="4394200" y="139954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9"/>
          <p:cNvSpPr/>
          <p:nvPr/>
        </p:nvSpPr>
        <p:spPr>
          <a:xfrm>
            <a:off x="4584700" y="155194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-1 (Failed)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业务失败</a:t>
            </a:r>
            <a:endParaRPr lang="en-US" sz="1100"/>
          </a:p>
        </p:txBody>
      </p:sp>
      <p:cxnSp>
        <p:nvCxnSpPr>
          <p:cNvPr id="21" name="Connector 10"/>
          <p:cNvCxnSpPr/>
          <p:nvPr/>
        </p:nvCxnSpPr>
        <p:spPr>
          <a:xfrm rot="-14566">
            <a:off x="4584713" y="202819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11"/>
          <p:cNvSpPr/>
          <p:nvPr/>
        </p:nvSpPr>
        <p:spPr>
          <a:xfrm>
            <a:off x="4584700" y="216154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应用拒绝请求、自检未通过或权限不足。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 `Result.error` 或 `msg` 字段获取具体失败原因。</a:t>
            </a:r>
            <a:endParaRPr lang="en-US" sz="1100"/>
          </a:p>
        </p:txBody>
      </p:sp>
      <p:sp>
        <p:nvSpPr>
          <p:cNvPr id="28" name="AutoShape 12"/>
          <p:cNvSpPr/>
          <p:nvPr/>
        </p:nvSpPr>
        <p:spPr>
          <a:xfrm>
            <a:off x="8026400" y="139954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13"/>
          <p:cNvSpPr/>
          <p:nvPr/>
        </p:nvSpPr>
        <p:spPr>
          <a:xfrm>
            <a:off x="8216900" y="155194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1001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连接异常</a:t>
            </a:r>
            <a:endParaRPr lang="en-US" sz="1100"/>
          </a:p>
        </p:txBody>
      </p:sp>
      <p:cxnSp>
        <p:nvCxnSpPr>
          <p:cNvPr id="33" name="Connector 14"/>
          <p:cNvCxnSpPr/>
          <p:nvPr/>
        </p:nvCxnSpPr>
        <p:spPr>
          <a:xfrm rot="-14566">
            <a:off x="8216913" y="202819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15"/>
          <p:cNvSpPr/>
          <p:nvPr/>
        </p:nvSpPr>
        <p:spPr>
          <a:xfrm>
            <a:off x="8216900" y="216154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未执行初始化连接或连接已断开。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确保调用业务接口前先执行 connect；检查应用进程是否存活。</a:t>
            </a:r>
            <a:endParaRPr lang="en-US" sz="1100"/>
          </a:p>
        </p:txBody>
      </p:sp>
      <p:sp>
        <p:nvSpPr>
          <p:cNvPr id="35" name="AutoShape 16"/>
          <p:cNvSpPr/>
          <p:nvPr/>
        </p:nvSpPr>
        <p:spPr>
          <a:xfrm>
            <a:off x="762000" y="349504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17"/>
          <p:cNvSpPr/>
          <p:nvPr/>
        </p:nvSpPr>
        <p:spPr>
          <a:xfrm>
            <a:off x="952500" y="364744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1002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发布失败</a:t>
            </a:r>
            <a:endParaRPr lang="en-US" sz="1100"/>
          </a:p>
        </p:txBody>
      </p:sp>
      <p:cxnSp>
        <p:nvCxnSpPr>
          <p:cNvPr id="37" name="Connector 18"/>
          <p:cNvCxnSpPr/>
          <p:nvPr/>
        </p:nvCxnSpPr>
        <p:spPr>
          <a:xfrm rot="-14566">
            <a:off x="952513" y="412369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19"/>
          <p:cNvSpPr/>
          <p:nvPr/>
        </p:nvSpPr>
        <p:spPr>
          <a:xfrm>
            <a:off x="952500" y="425704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Writer 实例不匹配、网络传输异常或服务不可达。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核对 Topic、Domain 及 QoS 配置是否与服务端一致。</a:t>
            </a:r>
            <a:endParaRPr lang="en-US" sz="1100"/>
          </a:p>
        </p:txBody>
      </p:sp>
      <p:sp>
        <p:nvSpPr>
          <p:cNvPr id="39" name="AutoShape 20"/>
          <p:cNvSpPr/>
          <p:nvPr/>
        </p:nvSpPr>
        <p:spPr>
          <a:xfrm>
            <a:off x="4394200" y="349504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21"/>
          <p:cNvSpPr/>
          <p:nvPr/>
        </p:nvSpPr>
        <p:spPr>
          <a:xfrm>
            <a:off x="4584700" y="364744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1003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响应超时</a:t>
            </a:r>
            <a:endParaRPr lang="en-US" sz="1100"/>
          </a:p>
        </p:txBody>
      </p:sp>
      <p:cxnSp>
        <p:nvCxnSpPr>
          <p:cNvPr id="41" name="Connector 22"/>
          <p:cNvCxnSpPr/>
          <p:nvPr/>
        </p:nvCxnSpPr>
        <p:spPr>
          <a:xfrm rot="-14566">
            <a:off x="4584713" y="412369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23"/>
          <p:cNvSpPr/>
          <p:nvPr/>
        </p:nvSpPr>
        <p:spPr>
          <a:xfrm>
            <a:off x="4584700" y="425704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设备未响应指令、Reader 未匹配或网络延迟过高。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适当增大超时阈值；检查设备端日志及网络稳定性。</a:t>
            </a:r>
            <a:endParaRPr lang="en-US" sz="1100"/>
          </a:p>
        </p:txBody>
      </p:sp>
      <p:sp>
        <p:nvSpPr>
          <p:cNvPr id="43" name="AutoShape 24"/>
          <p:cNvSpPr/>
          <p:nvPr/>
        </p:nvSpPr>
        <p:spPr>
          <a:xfrm>
            <a:off x="8026400" y="349504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25"/>
          <p:cNvSpPr/>
          <p:nvPr/>
        </p:nvSpPr>
        <p:spPr>
          <a:xfrm>
            <a:off x="8216900" y="364744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1004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参数非法</a:t>
            </a:r>
            <a:endParaRPr lang="en-US" sz="1100"/>
          </a:p>
        </p:txBody>
      </p:sp>
      <p:cxnSp>
        <p:nvCxnSpPr>
          <p:cNvPr id="45" name="Connector 26"/>
          <p:cNvCxnSpPr/>
          <p:nvPr/>
        </p:nvCxnSpPr>
        <p:spPr>
          <a:xfrm rot="-14566">
            <a:off x="8216913" y="412369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AutoShape 27"/>
          <p:cNvSpPr/>
          <p:nvPr/>
        </p:nvSpPr>
        <p:spPr>
          <a:xfrm>
            <a:off x="8216900" y="425704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原因：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JSON 解析失败、入参格式错误、字段缺失或类型不匹配。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严格校验入参的合法性，确保符合接口定义规范。</a:t>
            </a:r>
            <a:endParaRPr lang="en-US" sz="1100"/>
          </a:p>
        </p:txBody>
      </p:sp>
      <p:sp>
        <p:nvSpPr>
          <p:cNvPr id="47" name="AutoShape 28"/>
          <p:cNvSpPr/>
          <p:nvPr/>
        </p:nvSpPr>
        <p:spPr>
          <a:xfrm>
            <a:off x="762000" y="5527040"/>
            <a:ext cx="10642600" cy="762000"/>
          </a:xfrm>
          <a:prstGeom prst="roundRect">
            <a:avLst>
              <a:gd name="adj" fmla="val 0"/>
            </a:avLst>
          </a:prstGeom>
          <a:solidFill>
            <a:srgbClr val="FF8C00">
              <a:alpha val="12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29"/>
          <p:cNvSpPr/>
          <p:nvPr/>
        </p:nvSpPr>
        <p:spPr>
          <a:xfrm>
            <a:off x="952500" y="565404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💡 补充说明：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当返回 response.status ≠ 0 时，SDK 侧会统一返回 Failed 状态，具体的错误详情请务必查看返回结果中的 error 字段，这是定位底层通信问题的关键依据。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30200" y="6413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低空基础设施解决方案提供商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190500"/>
            <a:ext cx="15113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17500" y="584200"/>
            <a:ext cx="10452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spc="100">
                <a:solidFill>
                  <a:srgbClr val="022382"/>
                </a:solidFill>
                <a:latin typeface="微软雅黑"/>
                <a:ea typeface="微软雅黑"/>
                <a:cs typeface="微软雅黑"/>
                <a:sym typeface="微软雅黑"/>
              </a:rPr>
              <a:t>故障排查与解决方案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"/>
            <a:ext cx="152400" cy="635000"/>
          </a:xfrm>
          <a:prstGeom prst="roundRect">
            <a:avLst>
              <a:gd name="adj" fmla="val 0"/>
            </a:avLst>
          </a:prstGeom>
          <a:solidFill>
            <a:srgbClr val="C6A8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6"/>
          <p:cNvSpPr/>
          <p:nvPr/>
        </p:nvSpPr>
        <p:spPr>
          <a:xfrm>
            <a:off x="1328420" y="1541780"/>
            <a:ext cx="4208145" cy="1397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7"/>
          <p:cNvSpPr/>
          <p:nvPr/>
        </p:nvSpPr>
        <p:spPr>
          <a:xfrm>
            <a:off x="1455420" y="1668780"/>
            <a:ext cx="386461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01 无法建立连接</a:t>
            </a:r>
            <a:endParaRPr lang="en-US" sz="18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根因：应用未启动或Domain不匹配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对策：启动服务端，对齐配置文件</a:t>
            </a:r>
            <a:endParaRPr lang="en-US" sz="13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8"/>
          <p:cNvSpPr/>
          <p:nvPr/>
        </p:nvSpPr>
        <p:spPr>
          <a:xfrm>
            <a:off x="6014720" y="1536700"/>
            <a:ext cx="4551680" cy="1397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9"/>
          <p:cNvSpPr/>
          <p:nvPr/>
        </p:nvSpPr>
        <p:spPr>
          <a:xfrm>
            <a:off x="6141720" y="1663700"/>
            <a:ext cx="417957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02 有发送无回复</a:t>
            </a:r>
            <a:endParaRPr lang="en-US" sz="18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根因：QoS策略冲突或Topic名错误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对策：两端严格对齐DDS配置参数</a:t>
            </a:r>
            <a:endParaRPr lang="en-US" sz="13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10"/>
          <p:cNvSpPr/>
          <p:nvPr/>
        </p:nvSpPr>
        <p:spPr>
          <a:xfrm>
            <a:off x="1328420" y="3129280"/>
            <a:ext cx="4208145" cy="1397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11"/>
          <p:cNvSpPr/>
          <p:nvPr/>
        </p:nvSpPr>
        <p:spPr>
          <a:xfrm>
            <a:off x="1455420" y="3256280"/>
            <a:ext cx="386461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03 限流机制失效</a:t>
            </a:r>
            <a:endParaRPr lang="en-US" sz="18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根因：Session短时间请求量过大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对策：优化逻辑，降低并发频率</a:t>
            </a:r>
            <a:endParaRPr lang="en-US" sz="13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12"/>
          <p:cNvSpPr/>
          <p:nvPr/>
        </p:nvSpPr>
        <p:spPr>
          <a:xfrm>
            <a:off x="6014720" y="3124200"/>
            <a:ext cx="4551680" cy="1397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13"/>
          <p:cNvSpPr/>
          <p:nvPr/>
        </p:nvSpPr>
        <p:spPr>
          <a:xfrm>
            <a:off x="6141720" y="3251200"/>
            <a:ext cx="417957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04 取帧 Open 失败</a:t>
            </a:r>
            <a:endParaRPr lang="en-US" sz="18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根因：Worker进程未启动或流名错误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对策：检查数据源生产端运行状态</a:t>
            </a:r>
            <a:endParaRPr lang="en-US" sz="13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14"/>
          <p:cNvSpPr/>
          <p:nvPr/>
        </p:nvSpPr>
        <p:spPr>
          <a:xfrm>
            <a:off x="1328420" y="4716780"/>
            <a:ext cx="4208145" cy="1397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15"/>
          <p:cNvSpPr/>
          <p:nvPr/>
        </p:nvSpPr>
        <p:spPr>
          <a:xfrm>
            <a:off x="1455420" y="4843780"/>
            <a:ext cx="386461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05 进程异常退出</a:t>
            </a:r>
            <a:endParaRPr lang="en-US" sz="18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根因：FastDDS静态析构或资源泄漏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对策：退出前显式调用Disconnect</a:t>
            </a:r>
            <a:endParaRPr lang="en-US" sz="13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16"/>
          <p:cNvSpPr/>
          <p:nvPr/>
        </p:nvSpPr>
        <p:spPr>
          <a:xfrm>
            <a:off x="6014720" y="4711700"/>
            <a:ext cx="4551680" cy="1397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7"/>
          <p:cNvSpPr/>
          <p:nvPr/>
        </p:nvSpPr>
        <p:spPr>
          <a:xfrm>
            <a:off x="6141720" y="4838700"/>
            <a:ext cx="417957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C6A86E"/>
                </a:solidFill>
                <a:latin typeface="Noto Sans SC"/>
                <a:ea typeface="Noto Sans SC"/>
                <a:cs typeface="Noto Sans SC"/>
                <a:sym typeface="Noto Sans SC"/>
              </a:rPr>
              <a:t>06 动态库链接失败</a:t>
            </a:r>
            <a:endParaRPr lang="en-US" sz="1800" b="1">
              <a:solidFill>
                <a:srgbClr val="C6A86E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根因：未正确加载环境变量脚本</a:t>
            </a:r>
            <a:endParaRPr lang="en-US" sz="13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对策：检查LD_LIBRARY_PATH路径</a:t>
            </a:r>
            <a:endParaRPr lang="en-US" sz="13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83330" y="1310005"/>
            <a:ext cx="4625340" cy="1327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0" b="1" spc="100">
                <a:solidFill>
                  <a:srgbClr val="022382"/>
                </a:solidFill>
                <a:uFillTx/>
                <a:latin typeface="+mj-ea"/>
                <a:ea typeface="+mj-ea"/>
                <a:cs typeface="思源黑体 CN Bold" panose="020B0800000000000000" charset="-122"/>
                <a:sym typeface="+mn-ea"/>
              </a:rPr>
              <a:t>感谢聆听</a:t>
            </a:r>
            <a:endParaRPr lang="zh-CN" altLang="en-US" sz="8000" b="1" spc="100">
              <a:solidFill>
                <a:srgbClr val="022382"/>
              </a:solidFill>
              <a:uFillTx/>
              <a:latin typeface="+mj-ea"/>
              <a:ea typeface="+mj-ea"/>
              <a:cs typeface="思源黑体 CN Bold" panose="020B08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5920" y="2585085"/>
            <a:ext cx="6360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b="1" spc="100">
                <a:solidFill>
                  <a:srgbClr val="C6A86E"/>
                </a:solidFill>
                <a:uFillTx/>
                <a:latin typeface="+mj-ea"/>
                <a:ea typeface="+mj-ea"/>
                <a:cs typeface="思源黑体 CN Bold" panose="020B0800000000000000" charset="-122"/>
                <a:sym typeface="+mn-ea"/>
              </a:rPr>
              <a:t>THANKS</a:t>
            </a:r>
            <a:endParaRPr lang="zh-CN" altLang="en-US"/>
          </a:p>
        </p:txBody>
      </p:sp>
      <p:pic>
        <p:nvPicPr>
          <p:cNvPr id="8" name="图片 7" descr="PPT-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7948" y="344805"/>
            <a:ext cx="1856105" cy="808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6871</Words>
  <Application>WPS 演示</Application>
  <PresentationFormat/>
  <Paragraphs>465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27</vt:i4>
      </vt:variant>
    </vt:vector>
  </HeadingPairs>
  <TitlesOfParts>
    <vt:vector size="51" baseType="lpstr">
      <vt:lpstr>Arial</vt:lpstr>
      <vt:lpstr>宋体</vt:lpstr>
      <vt:lpstr>Wingdings</vt:lpstr>
      <vt:lpstr>Arial</vt:lpstr>
      <vt:lpstr>DejaVu Sans</vt:lpstr>
      <vt:lpstr>Noto Sans SC</vt:lpstr>
      <vt:lpstr>C059</vt:lpstr>
      <vt:lpstr>微软雅黑</vt:lpstr>
      <vt:lpstr>Droid Sans Fallback</vt:lpstr>
      <vt:lpstr>Calibri</vt:lpstr>
      <vt:lpstr>宋体</vt:lpstr>
      <vt:lpstr>Noto Serif CJK SC</vt:lpstr>
      <vt:lpstr>微软雅黑</vt:lpstr>
      <vt:lpstr>Arial Unicode MS</vt:lpstr>
      <vt:lpstr>思源黑体 CN Bold</vt:lpstr>
      <vt:lpstr>Noto Sans CJK SC</vt:lpstr>
      <vt:lpstr>Noto Color Emoji</vt:lpstr>
      <vt:lpstr>Office 主题​​</vt:lpstr>
      <vt:lpstr>默认主题</vt:lpstr>
      <vt:lpstr>1_默认主题</vt:lpstr>
      <vt:lpstr>3_默认主题</vt:lpstr>
      <vt:lpstr>4_默认主题</vt:lpstr>
      <vt:lpstr>2_默认主题</vt:lpstr>
      <vt:lpstr>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wdh</cp:lastModifiedBy>
  <cp:revision>71</cp:revision>
  <dcterms:created xsi:type="dcterms:W3CDTF">2026-07-29T03:04:10Z</dcterms:created>
  <dcterms:modified xsi:type="dcterms:W3CDTF">2026-07-29T03:04:10Z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{"Label":"1","ContentProducer":"001191110102MACQD9K64010000","ProduceID":"7667103148486822862","ReservedCode1":"","ContentPropagator":"","PropagateID":"","ReservedCode2":""}</vt:lpwstr>
  </property>
  <property fmtid="{D5CDD505-2E9C-101B-9397-08002B2CF9AE}" pid="3" name="ICV">
    <vt:lpwstr>12ADBCEC9BB0CCC96A07676ABD39EF4C_42</vt:lpwstr>
  </property>
  <property fmtid="{D5CDD505-2E9C-101B-9397-08002B2CF9AE}" pid="4" name="KSOProductBuildVer">
    <vt:lpwstr>2052-12.1.2.26885</vt:lpwstr>
  </property>
</Properties>
</file>